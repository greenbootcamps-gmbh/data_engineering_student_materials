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Lst>
  <p:sldSz cy="6858000" cx="12192000"/>
  <p:notesSz cx="6858000" cy="9144000"/>
  <p:embeddedFontLst>
    <p:embeddedFont>
      <p:font typeface="Lato"/>
      <p:regular r:id="rId97"/>
      <p:bold r:id="rId98"/>
      <p:italic r:id="rId99"/>
      <p:boldItalic r:id="rId100"/>
    </p:embeddedFont>
    <p:embeddedFont>
      <p:font typeface="Tahoma"/>
      <p:regular r:id="rId101"/>
      <p:bold r:id="rId102"/>
    </p:embeddedFont>
    <p:embeddedFont>
      <p:font typeface="Helvetica Neue"/>
      <p:bold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4" Type="http://schemas.openxmlformats.org/officeDocument/2006/relationships/font" Target="fonts/HelveticaNeue-boldItalic.fntdata"/><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font" Target="fonts/HelveticaNeue-bold.fntdata"/><Relationship Id="rId102" Type="http://schemas.openxmlformats.org/officeDocument/2006/relationships/font" Target="fonts/Tahoma-bold.fntdata"/><Relationship Id="rId101" Type="http://schemas.openxmlformats.org/officeDocument/2006/relationships/font" Target="fonts/Tahoma-regular.fntdata"/><Relationship Id="rId100" Type="http://schemas.openxmlformats.org/officeDocument/2006/relationships/font" Target="fonts/Lato-boldItalic.fntdata"/><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font" Target="fonts/Lato-regular.fntdata"/><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font" Target="fonts/Lato-italic.fntdata"/><Relationship Id="rId10" Type="http://schemas.openxmlformats.org/officeDocument/2006/relationships/slide" Target="slides/slide6.xml"/><Relationship Id="rId98" Type="http://schemas.openxmlformats.org/officeDocument/2006/relationships/font" Target="fonts/Lato-bold.fntdata"/><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g2f774301c3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 name="Google Shape;32;g2f774301c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2f774301c3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 name="Google Shape;38;g2f774301c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2f774301c3d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2f774301c3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2f774301c3d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2f774301c3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f774301c3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g2f774301c3d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f774301c3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2f774301c3d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f774301c3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2f774301c3d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f774301c3d_0_2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f774301c3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f774301c3d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f774301c3d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f774301c3d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f774301c3d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774301c3d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774301c3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f774301c3d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f774301c3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f774301c3d_0_2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f774301c3d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f774301c3d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f774301c3d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f774301c3d_0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f774301c3d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774301c3d_0_2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774301c3d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f774301c3d_0_2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f774301c3d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774301c3d_0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774301c3d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f774301c3d_0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f774301c3d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774301c3d_0_3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774301c3d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f774301c3d_0_3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f774301c3d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f774301c3d_0_3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f774301c3d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f774301c3d_0_3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f774301c3d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f774301c3d_0_3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f774301c3d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f774301c3d_0_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f774301c3d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f774301c3d_0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f774301c3d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f774301c3d_0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f774301c3d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f774301c3d_0_3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f774301c3d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f774301c3d_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f774301c3d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f774301c3d_0_3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f774301c3d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f774301c3d_0_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f774301c3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774301c3d_0_4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f774301c3d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f774301c3d_0_4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f774301c3d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f774301c3d_0_4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f774301c3d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f774301c3d_0_4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f774301c3d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f774301c3d_0_4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f774301c3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f774301c3d_0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f774301c3d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f774301c3d_0_4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f774301c3d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f774301c3d_0_4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f774301c3d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f774301c3d_0_4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f774301c3d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f774301c3d_0_4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f774301c3d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f774301c3d_0_4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f774301c3d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f774301c3d_0_5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f774301c3d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f774301c3d_0_5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f774301c3d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f774301c3d_0_5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f774301c3d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f774301c3d_0_5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f774301c3d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f774301c3d_0_5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f774301c3d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f774301c3d_0_5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f774301c3d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f774301c3d_0_5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f774301c3d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f774301c3d_0_5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f774301c3d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f774301c3d_0_5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f774301c3d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f774301c3d_0_5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f774301c3d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f774301c3d_0_5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f774301c3d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f774301c3d_0_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f774301c3d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f774301c3d_0_5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f774301c3d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f774301c3d_0_6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f774301c3d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f774301c3d_0_6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f774301c3d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f774301c3d_0_6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f774301c3d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f774301c3d_0_6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f774301c3d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f774301c3d_0_6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f774301c3d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f774301c3d_0_6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f774301c3d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f774301c3d_0_6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f774301c3d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f774301c3d_0_6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f774301c3d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f774301c3d_0_6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f774301c3d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f774301c3d_0_6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f774301c3d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f774301c3d_0_6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f774301c3d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f774301c3d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f774301c3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f774301c3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2f774301c3d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f774301c3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2f774301c3d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f774301c3d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2f774301c3d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f774301c3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2f774301c3d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f774301c3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g2f774301c3d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f774301c3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2f774301c3d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f774301c3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2f774301c3d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f774301c3d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2f774301c3d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f774301c3d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g2f774301c3d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f774301c3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2f774301c3d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f774301c3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2f774301c3d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f774301c3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2f774301c3d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f774301c3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2f774301c3d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f774301c3d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2f774301c3d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f774301c3d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g2f774301c3d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p:nvPr/>
        </p:nvSpPr>
        <p:spPr>
          <a:xfrm>
            <a:off x="1" y="0"/>
            <a:ext cx="12192000" cy="6308608"/>
          </a:xfrm>
          <a:prstGeom prst="rect">
            <a:avLst/>
          </a:prstGeom>
          <a:solidFill>
            <a:srgbClr val="0C7D2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2"/>
          <p:cNvSpPr txBox="1"/>
          <p:nvPr>
            <p:ph type="ctrTitle"/>
          </p:nvPr>
        </p:nvSpPr>
        <p:spPr>
          <a:xfrm>
            <a:off x="1088136" y="1078030"/>
            <a:ext cx="9288096" cy="295671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6600" cap="none">
                <a:solidFill>
                  <a:srgbClr val="FFFFFF"/>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2"/>
          <p:cNvSpPr txBox="1"/>
          <p:nvPr>
            <p:ph idx="1" type="subTitle"/>
          </p:nvPr>
        </p:nvSpPr>
        <p:spPr>
          <a:xfrm>
            <a:off x="1088136" y="4455621"/>
            <a:ext cx="9288096" cy="1435331"/>
          </a:xfrm>
          <a:prstGeom prst="rect">
            <a:avLst/>
          </a:prstGeom>
          <a:noFill/>
          <a:ln>
            <a:noFill/>
          </a:ln>
        </p:spPr>
        <p:txBody>
          <a:bodyPr anchorCtr="0" anchor="t" bIns="45700" lIns="91425" spcFirstLastPara="1" rIns="91425" wrap="square" tIns="45700">
            <a:normAutofit/>
          </a:bodyPr>
          <a:lstStyle>
            <a:lvl1pPr lvl="0" algn="l">
              <a:lnSpc>
                <a:spcPct val="120000"/>
              </a:lnSpc>
              <a:spcBef>
                <a:spcPts val="400"/>
              </a:spcBef>
              <a:spcAft>
                <a:spcPts val="0"/>
              </a:spcAft>
              <a:buSzPts val="2000"/>
              <a:buNone/>
              <a:defRPr sz="2000">
                <a:solidFill>
                  <a:srgbClr val="FFFFFF"/>
                </a:solidFill>
              </a:defRPr>
            </a:lvl1pPr>
            <a:lvl2pPr lvl="1" algn="ctr">
              <a:spcBef>
                <a:spcPts val="400"/>
              </a:spcBef>
              <a:spcAft>
                <a:spcPts val="0"/>
              </a:spcAft>
              <a:buSzPts val="2000"/>
              <a:buFont typeface="Lato"/>
              <a:buNone/>
              <a:defRPr sz="2000"/>
            </a:lvl2pPr>
            <a:lvl3pPr lvl="2" algn="ctr">
              <a:spcBef>
                <a:spcPts val="360"/>
              </a:spcBef>
              <a:spcAft>
                <a:spcPts val="0"/>
              </a:spcAft>
              <a:buSzPts val="1800"/>
              <a:buFont typeface="Lato"/>
              <a:buNone/>
              <a:defRPr sz="1800"/>
            </a:lvl3pPr>
            <a:lvl4pPr lvl="3" algn="ctr">
              <a:spcBef>
                <a:spcPts val="320"/>
              </a:spcBef>
              <a:spcAft>
                <a:spcPts val="0"/>
              </a:spcAft>
              <a:buSzPts val="1600"/>
              <a:buNone/>
              <a:defRPr sz="1600"/>
            </a:lvl4pPr>
            <a:lvl5pPr lvl="4" algn="ctr">
              <a:spcBef>
                <a:spcPts val="320"/>
              </a:spcBef>
              <a:spcAft>
                <a:spcPts val="0"/>
              </a:spcAft>
              <a:buSzPts val="1600"/>
              <a:buFont typeface="Lato"/>
              <a:buNone/>
              <a:defRPr sz="1600"/>
            </a:lvl5pPr>
            <a:lvl6pPr lvl="5" algn="ctr">
              <a:spcBef>
                <a:spcPts val="320"/>
              </a:spcBef>
              <a:spcAft>
                <a:spcPts val="0"/>
              </a:spcAft>
              <a:buClr>
                <a:schemeClr val="dk1"/>
              </a:buClr>
              <a:buSzPts val="1600"/>
              <a:buFont typeface="Arial"/>
              <a:buNone/>
              <a:defRPr sz="1600"/>
            </a:lvl6pPr>
            <a:lvl7pPr lvl="6" algn="ctr">
              <a:spcBef>
                <a:spcPts val="320"/>
              </a:spcBef>
              <a:spcAft>
                <a:spcPts val="0"/>
              </a:spcAft>
              <a:buClr>
                <a:schemeClr val="dk1"/>
              </a:buClr>
              <a:buSzPts val="1600"/>
              <a:buFont typeface="Arial"/>
              <a:buNone/>
              <a:defRPr sz="1600"/>
            </a:lvl7pPr>
            <a:lvl8pPr lvl="7" algn="ctr">
              <a:spcBef>
                <a:spcPts val="320"/>
              </a:spcBef>
              <a:spcAft>
                <a:spcPts val="0"/>
              </a:spcAft>
              <a:buClr>
                <a:schemeClr val="dk1"/>
              </a:buClr>
              <a:buSzPts val="1600"/>
              <a:buFont typeface="Arial"/>
              <a:buNone/>
              <a:defRPr sz="1600"/>
            </a:lvl8pPr>
            <a:lvl9pPr lvl="8" algn="ctr">
              <a:spcBef>
                <a:spcPts val="320"/>
              </a:spcBef>
              <a:spcAft>
                <a:spcPts val="0"/>
              </a:spcAft>
              <a:buClr>
                <a:schemeClr val="dk1"/>
              </a:buClr>
              <a:buSzPts val="1600"/>
              <a:buFont typeface="Arial"/>
              <a:buNone/>
              <a:defRPr sz="1600"/>
            </a:lvl9pPr>
          </a:lstStyle>
          <a:p/>
        </p:txBody>
      </p:sp>
      <p:pic>
        <p:nvPicPr>
          <p:cNvPr descr="Ein Bild, das Grün, Schrift, Grafiken, Screenshot enthält.&#10;&#10;Automatisch generierte Beschreibung" id="16" name="Google Shape;16;p2"/>
          <p:cNvPicPr preferRelativeResize="0"/>
          <p:nvPr/>
        </p:nvPicPr>
        <p:blipFill rotWithShape="1">
          <a:blip r:embed="rId2">
            <a:alphaModFix/>
          </a:blip>
          <a:srcRect b="36641" l="0" r="0" t="35703"/>
          <a:stretch/>
        </p:blipFill>
        <p:spPr>
          <a:xfrm>
            <a:off x="9747739" y="190265"/>
            <a:ext cx="2287098" cy="6325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3"/>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p:cSld name="Zwei Inhalte">
    <p:spTree>
      <p:nvGrpSpPr>
        <p:cNvPr id="20" name="Shape 20"/>
        <p:cNvGrpSpPr/>
        <p:nvPr/>
      </p:nvGrpSpPr>
      <p:grpSpPr>
        <a:xfrm>
          <a:off x="0" y="0"/>
          <a:ext cx="0" cy="0"/>
          <a:chOff x="0" y="0"/>
          <a:chExt cx="0" cy="0"/>
        </a:xfrm>
      </p:grpSpPr>
      <p:sp>
        <p:nvSpPr>
          <p:cNvPr id="21" name="Google Shape;21;p4"/>
          <p:cNvSpPr txBox="1"/>
          <p:nvPr>
            <p:ph idx="1" type="body"/>
          </p:nvPr>
        </p:nvSpPr>
        <p:spPr>
          <a:xfrm>
            <a:off x="367900" y="1556792"/>
            <a:ext cx="5656092" cy="4114800"/>
          </a:xfrm>
          <a:prstGeom prst="rect">
            <a:avLst/>
          </a:prstGeom>
          <a:noFill/>
          <a:ln>
            <a:noFill/>
          </a:ln>
        </p:spPr>
        <p:txBody>
          <a:bodyPr anchorCtr="0" anchor="t" bIns="45700" lIns="91425" spcFirstLastPara="1" rIns="91425" wrap="square" tIns="45700">
            <a:noAutofit/>
          </a:bodyPr>
          <a:lstStyle>
            <a:lvl1pPr indent="-355600" lvl="0" marL="457200" algn="l">
              <a:spcBef>
                <a:spcPts val="400"/>
              </a:spcBef>
              <a:spcAft>
                <a:spcPts val="0"/>
              </a:spcAft>
              <a:buSzPts val="2000"/>
              <a:buChar char="•"/>
              <a:defRPr sz="2000">
                <a:latin typeface="Helvetica Neue"/>
                <a:ea typeface="Helvetica Neue"/>
                <a:cs typeface="Helvetica Neue"/>
                <a:sym typeface="Helvetica Neue"/>
              </a:defRPr>
            </a:lvl1pPr>
            <a:lvl2pPr indent="-342900" lvl="1" marL="914400" algn="l">
              <a:spcBef>
                <a:spcPts val="360"/>
              </a:spcBef>
              <a:spcAft>
                <a:spcPts val="0"/>
              </a:spcAft>
              <a:buSzPts val="1800"/>
              <a:buFont typeface="Helvetica Neue"/>
              <a:buChar char="–"/>
              <a:defRPr sz="1800">
                <a:latin typeface="Helvetica Neue"/>
                <a:ea typeface="Helvetica Neue"/>
                <a:cs typeface="Helvetica Neue"/>
                <a:sym typeface="Helvetica Neue"/>
              </a:defRPr>
            </a:lvl2pPr>
            <a:lvl3pPr indent="-330200" lvl="2" marL="1371600" algn="l">
              <a:spcBef>
                <a:spcPts val="320"/>
              </a:spcBef>
              <a:spcAft>
                <a:spcPts val="0"/>
              </a:spcAft>
              <a:buSzPts val="1600"/>
              <a:buFont typeface="Helvetica Neue"/>
              <a:buChar char="•"/>
              <a:defRPr sz="1600">
                <a:latin typeface="Helvetica Neue"/>
                <a:ea typeface="Helvetica Neue"/>
                <a:cs typeface="Helvetica Neue"/>
                <a:sym typeface="Helvetica Neue"/>
              </a:defRPr>
            </a:lvl3pPr>
            <a:lvl4pPr indent="-317500" lvl="3" marL="1828800" algn="l">
              <a:spcBef>
                <a:spcPts val="280"/>
              </a:spcBef>
              <a:spcAft>
                <a:spcPts val="0"/>
              </a:spcAft>
              <a:buSzPts val="1400"/>
              <a:buChar char="−"/>
              <a:defRPr sz="1400">
                <a:latin typeface="Helvetica Neue"/>
                <a:ea typeface="Helvetica Neue"/>
                <a:cs typeface="Helvetica Neue"/>
                <a:sym typeface="Helvetica Neue"/>
              </a:defRPr>
            </a:lvl4pPr>
            <a:lvl5pPr indent="-342900" lvl="4" marL="2286000" algn="l">
              <a:spcBef>
                <a:spcPts val="360"/>
              </a:spcBef>
              <a:spcAft>
                <a:spcPts val="0"/>
              </a:spcAft>
              <a:buSzPts val="1800"/>
              <a:buFont typeface="Lato"/>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22" name="Google Shape;22;p4"/>
          <p:cNvSpPr txBox="1"/>
          <p:nvPr>
            <p:ph idx="2" type="body"/>
          </p:nvPr>
        </p:nvSpPr>
        <p:spPr>
          <a:xfrm>
            <a:off x="6312024" y="1558064"/>
            <a:ext cx="5545014" cy="4114800"/>
          </a:xfrm>
          <a:prstGeom prst="rect">
            <a:avLst/>
          </a:prstGeom>
          <a:noFill/>
          <a:ln>
            <a:noFill/>
          </a:ln>
        </p:spPr>
        <p:txBody>
          <a:bodyPr anchorCtr="0" anchor="t" bIns="45700" lIns="91425" spcFirstLastPara="1" rIns="91425" wrap="square" tIns="45700">
            <a:noAutofit/>
          </a:bodyPr>
          <a:lstStyle>
            <a:lvl1pPr indent="-355600" lvl="0" marL="457200" algn="l">
              <a:spcBef>
                <a:spcPts val="400"/>
              </a:spcBef>
              <a:spcAft>
                <a:spcPts val="0"/>
              </a:spcAft>
              <a:buSzPts val="2000"/>
              <a:buChar char="•"/>
              <a:defRPr sz="2000">
                <a:latin typeface="Helvetica Neue"/>
                <a:ea typeface="Helvetica Neue"/>
                <a:cs typeface="Helvetica Neue"/>
                <a:sym typeface="Helvetica Neue"/>
              </a:defRPr>
            </a:lvl1pPr>
            <a:lvl2pPr indent="-342900" lvl="1" marL="914400" algn="l">
              <a:spcBef>
                <a:spcPts val="360"/>
              </a:spcBef>
              <a:spcAft>
                <a:spcPts val="0"/>
              </a:spcAft>
              <a:buSzPts val="1800"/>
              <a:buFont typeface="Helvetica Neue"/>
              <a:buChar char="–"/>
              <a:defRPr sz="1800">
                <a:latin typeface="Helvetica Neue"/>
                <a:ea typeface="Helvetica Neue"/>
                <a:cs typeface="Helvetica Neue"/>
                <a:sym typeface="Helvetica Neue"/>
              </a:defRPr>
            </a:lvl2pPr>
            <a:lvl3pPr indent="-330200" lvl="2" marL="1371600" algn="l">
              <a:spcBef>
                <a:spcPts val="320"/>
              </a:spcBef>
              <a:spcAft>
                <a:spcPts val="0"/>
              </a:spcAft>
              <a:buSzPts val="1600"/>
              <a:buFont typeface="Helvetica Neue"/>
              <a:buChar char="•"/>
              <a:defRPr sz="1600">
                <a:latin typeface="Helvetica Neue"/>
                <a:ea typeface="Helvetica Neue"/>
                <a:cs typeface="Helvetica Neue"/>
                <a:sym typeface="Helvetica Neue"/>
              </a:defRPr>
            </a:lvl3pPr>
            <a:lvl4pPr indent="-317500" lvl="3" marL="1828800" algn="l">
              <a:spcBef>
                <a:spcPts val="280"/>
              </a:spcBef>
              <a:spcAft>
                <a:spcPts val="0"/>
              </a:spcAft>
              <a:buSzPts val="1400"/>
              <a:buChar char="−"/>
              <a:defRPr sz="1400">
                <a:latin typeface="Helvetica Neue"/>
                <a:ea typeface="Helvetica Neue"/>
                <a:cs typeface="Helvetica Neue"/>
                <a:sym typeface="Helvetica Neue"/>
              </a:defRPr>
            </a:lvl4pPr>
            <a:lvl5pPr indent="-342900" lvl="4" marL="2286000" algn="l">
              <a:spcBef>
                <a:spcPts val="360"/>
              </a:spcBef>
              <a:spcAft>
                <a:spcPts val="0"/>
              </a:spcAft>
              <a:buSzPts val="1800"/>
              <a:buFont typeface="Lato"/>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23" name="Google Shape;23;p4"/>
          <p:cNvSpPr txBox="1"/>
          <p:nvPr>
            <p:ph type="title"/>
          </p:nvPr>
        </p:nvSpPr>
        <p:spPr>
          <a:xfrm>
            <a:off x="354416" y="280068"/>
            <a:ext cx="11502621"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24" name="Shape 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34963" y="277813"/>
            <a:ext cx="11522075"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800" u="none" cap="none" strike="noStrike">
                <a:solidFill>
                  <a:srgbClr val="262626"/>
                </a:solidFill>
                <a:latin typeface="Lato"/>
                <a:ea typeface="Lato"/>
                <a:cs typeface="Lato"/>
                <a:sym typeface="Lato"/>
              </a:defRPr>
            </a:lvl1pPr>
            <a:lvl2pPr lvl="1" marR="0" rtl="0" algn="l">
              <a:spcBef>
                <a:spcPts val="0"/>
              </a:spcBef>
              <a:spcAft>
                <a:spcPts val="0"/>
              </a:spcAft>
              <a:buSzPts val="1400"/>
              <a:buNone/>
              <a:defRPr b="1" i="0" sz="2000" u="none" cap="none" strike="noStrike">
                <a:solidFill>
                  <a:srgbClr val="595959"/>
                </a:solidFill>
                <a:latin typeface="Helvetica Neue"/>
                <a:ea typeface="Helvetica Neue"/>
                <a:cs typeface="Helvetica Neue"/>
                <a:sym typeface="Helvetica Neue"/>
              </a:defRPr>
            </a:lvl2pPr>
            <a:lvl3pPr lvl="2" marR="0" rtl="0" algn="l">
              <a:spcBef>
                <a:spcPts val="0"/>
              </a:spcBef>
              <a:spcAft>
                <a:spcPts val="0"/>
              </a:spcAft>
              <a:buSzPts val="1400"/>
              <a:buNone/>
              <a:defRPr b="1" i="0" sz="2000" u="none" cap="none" strike="noStrike">
                <a:solidFill>
                  <a:srgbClr val="595959"/>
                </a:solidFill>
                <a:latin typeface="Helvetica Neue"/>
                <a:ea typeface="Helvetica Neue"/>
                <a:cs typeface="Helvetica Neue"/>
                <a:sym typeface="Helvetica Neue"/>
              </a:defRPr>
            </a:lvl3pPr>
            <a:lvl4pPr lvl="3" marR="0" rtl="0" algn="l">
              <a:spcBef>
                <a:spcPts val="0"/>
              </a:spcBef>
              <a:spcAft>
                <a:spcPts val="0"/>
              </a:spcAft>
              <a:buSzPts val="1400"/>
              <a:buNone/>
              <a:defRPr b="1" i="0" sz="2000" u="none" cap="none" strike="noStrike">
                <a:solidFill>
                  <a:srgbClr val="595959"/>
                </a:solidFill>
                <a:latin typeface="Helvetica Neue"/>
                <a:ea typeface="Helvetica Neue"/>
                <a:cs typeface="Helvetica Neue"/>
                <a:sym typeface="Helvetica Neue"/>
              </a:defRPr>
            </a:lvl4pPr>
            <a:lvl5pPr lvl="4" marR="0" rtl="0" algn="l">
              <a:spcBef>
                <a:spcPts val="0"/>
              </a:spcBef>
              <a:spcAft>
                <a:spcPts val="0"/>
              </a:spcAft>
              <a:buSzPts val="1400"/>
              <a:buNone/>
              <a:defRPr b="1" i="0" sz="2000" u="none" cap="none" strike="noStrike">
                <a:solidFill>
                  <a:srgbClr val="595959"/>
                </a:solidFill>
                <a:latin typeface="Helvetica Neue"/>
                <a:ea typeface="Helvetica Neue"/>
                <a:cs typeface="Helvetica Neue"/>
                <a:sym typeface="Helvetica Neue"/>
              </a:defRPr>
            </a:lvl5pPr>
            <a:lvl6pPr lvl="5" marR="0" rtl="0" algn="ctr">
              <a:spcBef>
                <a:spcPts val="0"/>
              </a:spcBef>
              <a:spcAft>
                <a:spcPts val="0"/>
              </a:spcAft>
              <a:buSzPts val="1400"/>
              <a:buNone/>
              <a:defRPr b="1" i="0" sz="2400" u="none" cap="none" strike="noStrike">
                <a:solidFill>
                  <a:srgbClr val="646B8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646B8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646B8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646B86"/>
                </a:solidFill>
                <a:latin typeface="Arial"/>
                <a:ea typeface="Arial"/>
                <a:cs typeface="Arial"/>
                <a:sym typeface="Arial"/>
              </a:defRPr>
            </a:lvl9pPr>
          </a:lstStyle>
          <a:p/>
        </p:txBody>
      </p:sp>
      <p:sp>
        <p:nvSpPr>
          <p:cNvPr id="7" name="Google Shape;7;p1"/>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rgbClr val="6F6F6F"/>
              </a:buClr>
              <a:buSzPts val="1800"/>
              <a:buFont typeface="Arial"/>
              <a:buChar char="•"/>
              <a:defRPr b="0" i="0" sz="1800" u="none" cap="none" strike="noStrike">
                <a:solidFill>
                  <a:srgbClr val="262626"/>
                </a:solidFill>
                <a:latin typeface="Lato"/>
                <a:ea typeface="Lato"/>
                <a:cs typeface="Lato"/>
                <a:sym typeface="Lato"/>
              </a:defRPr>
            </a:lvl1pPr>
            <a:lvl2pPr indent="-330200" lvl="1" marL="914400" marR="0" rtl="0" algn="l">
              <a:spcBef>
                <a:spcPts val="320"/>
              </a:spcBef>
              <a:spcAft>
                <a:spcPts val="0"/>
              </a:spcAft>
              <a:buClr>
                <a:srgbClr val="6F6F6F"/>
              </a:buClr>
              <a:buSzPts val="1600"/>
              <a:buFont typeface="Lato"/>
              <a:buChar char="–"/>
              <a:defRPr b="0" i="0" sz="1600" u="none" cap="none" strike="noStrike">
                <a:solidFill>
                  <a:srgbClr val="262626"/>
                </a:solidFill>
                <a:latin typeface="Lato"/>
                <a:ea typeface="Lato"/>
                <a:cs typeface="Lato"/>
                <a:sym typeface="Lato"/>
              </a:defRPr>
            </a:lvl2pPr>
            <a:lvl3pPr indent="-317500" lvl="2" marL="1371600" marR="0" rtl="0" algn="l">
              <a:spcBef>
                <a:spcPts val="280"/>
              </a:spcBef>
              <a:spcAft>
                <a:spcPts val="0"/>
              </a:spcAft>
              <a:buClr>
                <a:srgbClr val="6F6F6F"/>
              </a:buClr>
              <a:buSzPts val="1400"/>
              <a:buFont typeface="Lato"/>
              <a:buChar char="•"/>
              <a:defRPr b="0" i="0" sz="1400" u="none" cap="none" strike="noStrike">
                <a:solidFill>
                  <a:srgbClr val="262626"/>
                </a:solidFill>
                <a:latin typeface="Lato"/>
                <a:ea typeface="Lato"/>
                <a:cs typeface="Lato"/>
                <a:sym typeface="Lato"/>
              </a:defRPr>
            </a:lvl3pPr>
            <a:lvl4pPr indent="-304800" lvl="3" marL="1828800" marR="0" rtl="0" algn="l">
              <a:spcBef>
                <a:spcPts val="240"/>
              </a:spcBef>
              <a:spcAft>
                <a:spcPts val="0"/>
              </a:spcAft>
              <a:buClr>
                <a:srgbClr val="6F6F6F"/>
              </a:buClr>
              <a:buSzPts val="1200"/>
              <a:buFont typeface="Noto Sans Symbols"/>
              <a:buChar char="−"/>
              <a:defRPr b="0" i="0" sz="1200" u="none" cap="none" strike="noStrike">
                <a:solidFill>
                  <a:srgbClr val="262626"/>
                </a:solidFill>
                <a:latin typeface="Lato"/>
                <a:ea typeface="Lato"/>
                <a:cs typeface="Lato"/>
                <a:sym typeface="Lato"/>
              </a:defRPr>
            </a:lvl4pPr>
            <a:lvl5pPr indent="-292100" lvl="4" marL="2286000" marR="0" rtl="0" algn="l">
              <a:spcBef>
                <a:spcPts val="200"/>
              </a:spcBef>
              <a:spcAft>
                <a:spcPts val="0"/>
              </a:spcAft>
              <a:buClr>
                <a:srgbClr val="6F6F6F"/>
              </a:buClr>
              <a:buSzPts val="1000"/>
              <a:buFont typeface="Lato"/>
              <a:buChar char="»"/>
              <a:defRPr b="0" i="0" sz="1000" u="none" cap="none" strike="noStrike">
                <a:solidFill>
                  <a:srgbClr val="262626"/>
                </a:solidFill>
                <a:latin typeface="Lato"/>
                <a:ea typeface="Lato"/>
                <a:cs typeface="Lato"/>
                <a:sym typeface="Lato"/>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nvSpPr>
        <p:spPr>
          <a:xfrm>
            <a:off x="0" y="6281738"/>
            <a:ext cx="12192000" cy="576262"/>
          </a:xfrm>
          <a:prstGeom prst="rect">
            <a:avLst/>
          </a:prstGeom>
          <a:solidFill>
            <a:srgbClr val="0C7D2C"/>
          </a:solidFill>
          <a:ln>
            <a:noFill/>
          </a:ln>
        </p:spPr>
        <p:txBody>
          <a:bodyPr anchorCtr="0" anchor="t" bIns="262800" lIns="91425" spcFirstLastPara="1" rIns="91425" wrap="square" tIns="370800">
            <a:noAutofit/>
          </a:bodyPr>
          <a:lstStyle/>
          <a:p>
            <a:pPr indent="0" lvl="0" marL="0" marR="0" rtl="0" algn="l">
              <a:spcBef>
                <a:spcPts val="0"/>
              </a:spcBef>
              <a:spcAft>
                <a:spcPts val="0"/>
              </a:spcAft>
              <a:buClr>
                <a:schemeClr val="dk1"/>
              </a:buClr>
              <a:buSzPts val="1800"/>
              <a:buFont typeface="Arial"/>
              <a:buNone/>
            </a:pPr>
            <a:r>
              <a:t/>
            </a:r>
            <a:endParaRPr b="1" i="0" sz="1800" u="sng" cap="none" strike="noStrike">
              <a:solidFill>
                <a:schemeClr val="dk1"/>
              </a:solidFill>
              <a:latin typeface="Tahoma"/>
              <a:ea typeface="Tahoma"/>
              <a:cs typeface="Tahoma"/>
              <a:sym typeface="Tahoma"/>
            </a:endParaRPr>
          </a:p>
        </p:txBody>
      </p:sp>
      <p:sp>
        <p:nvSpPr>
          <p:cNvPr id="9" name="Google Shape;9;p1"/>
          <p:cNvSpPr txBox="1"/>
          <p:nvPr/>
        </p:nvSpPr>
        <p:spPr>
          <a:xfrm>
            <a:off x="0" y="6453188"/>
            <a:ext cx="12192000" cy="2301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chemeClr val="lt1"/>
                </a:solidFill>
                <a:latin typeface="Tahoma"/>
                <a:ea typeface="Tahoma"/>
                <a:cs typeface="Tahoma"/>
                <a:sym typeface="Tahoma"/>
              </a:rPr>
              <a:t>     ©  Greenbootcamps GmbH</a:t>
            </a:r>
            <a:r>
              <a:rPr b="0" i="0" lang="en-US" sz="900" u="none" cap="none" strike="noStrike">
                <a:solidFill>
                  <a:schemeClr val="lt1"/>
                </a:solidFill>
                <a:latin typeface="Arial"/>
                <a:ea typeface="Arial"/>
                <a:cs typeface="Arial"/>
                <a:sym typeface="Arial"/>
              </a:rPr>
              <a:t>	   	        	                                                                                                     				 </a:t>
            </a:r>
            <a:fld id="{00000000-1234-1234-1234-123412341234}" type="slidenum">
              <a:rPr b="0" i="0" lang="en-US" sz="900" u="none" cap="none" strike="noStrike">
                <a:solidFill>
                  <a:schemeClr val="lt1"/>
                </a:solidFill>
                <a:latin typeface="Tahoma"/>
                <a:ea typeface="Tahoma"/>
                <a:cs typeface="Tahoma"/>
                <a:sym typeface="Tahoma"/>
              </a:rPr>
              <a:t>‹#›</a:t>
            </a:fld>
            <a:r>
              <a:rPr b="0" i="0" lang="en-US" sz="900" u="none" cap="none" strike="noStrike">
                <a:solidFill>
                  <a:schemeClr val="lt1"/>
                </a:solidFill>
                <a:latin typeface="Arial"/>
                <a:ea typeface="Arial"/>
                <a:cs typeface="Arial"/>
                <a:sym typeface="Arial"/>
              </a:rPr>
              <a:t> </a:t>
            </a:r>
            <a:endParaRPr b="1" i="0" sz="900" u="none" cap="none" strike="noStrike">
              <a:solidFill>
                <a:schemeClr val="lt1"/>
              </a:solidFill>
              <a:latin typeface="Arial"/>
              <a:ea typeface="Arial"/>
              <a:cs typeface="Arial"/>
              <a:sym typeface="Arial"/>
            </a:endParaRPr>
          </a:p>
        </p:txBody>
      </p:sp>
      <p:pic>
        <p:nvPicPr>
          <p:cNvPr descr="Ein Bild, das Grafiken, Schrift, Grafikdesign, Screenshot enthält.&#10;&#10;Automatisch generierte Beschreibung" id="10" name="Google Shape;10;p1"/>
          <p:cNvPicPr preferRelativeResize="0"/>
          <p:nvPr/>
        </p:nvPicPr>
        <p:blipFill rotWithShape="1">
          <a:blip r:embed="rId1">
            <a:alphaModFix/>
          </a:blip>
          <a:srcRect b="0" l="0" r="0" t="0"/>
          <a:stretch/>
        </p:blipFill>
        <p:spPr>
          <a:xfrm>
            <a:off x="9972675" y="0"/>
            <a:ext cx="2079626" cy="1039813"/>
          </a:xfrm>
          <a:prstGeom prst="rect">
            <a:avLst/>
          </a:prstGeom>
          <a:noFill/>
          <a:ln>
            <a:noFill/>
          </a:ln>
        </p:spPr>
      </p:pic>
      <p:cxnSp>
        <p:nvCxnSpPr>
          <p:cNvPr id="11" name="Google Shape;11;p1"/>
          <p:cNvCxnSpPr/>
          <p:nvPr/>
        </p:nvCxnSpPr>
        <p:spPr>
          <a:xfrm>
            <a:off x="0" y="1392238"/>
            <a:ext cx="1157288" cy="0"/>
          </a:xfrm>
          <a:prstGeom prst="straightConnector1">
            <a:avLst/>
          </a:prstGeom>
          <a:noFill/>
          <a:ln cap="flat" cmpd="sng" w="95250">
            <a:solidFill>
              <a:srgbClr val="0C7D2C"/>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4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6"/>
          <p:cNvSpPr txBox="1"/>
          <p:nvPr>
            <p:ph type="ctrTitle"/>
          </p:nvPr>
        </p:nvSpPr>
        <p:spPr>
          <a:xfrm>
            <a:off x="1088136" y="1078030"/>
            <a:ext cx="9288096" cy="295671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lt1"/>
                </a:solidFill>
                <a:latin typeface="Arial"/>
                <a:ea typeface="Arial"/>
                <a:cs typeface="Arial"/>
                <a:sym typeface="Arial"/>
              </a:rPr>
              <a:t>INTRODUCTION TO SPARK AND PYSPARK</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The 3 V's of Big Data</a:t>
            </a:r>
            <a:endParaRPr/>
          </a:p>
        </p:txBody>
      </p:sp>
      <p:sp>
        <p:nvSpPr>
          <p:cNvPr id="35" name="Google Shape;35;p7"/>
          <p:cNvSpPr txBox="1"/>
          <p:nvPr>
            <p:ph idx="1" type="body"/>
          </p:nvPr>
        </p:nvSpPr>
        <p:spPr>
          <a:xfrm>
            <a:off x="334977" y="1585925"/>
            <a:ext cx="90741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  Big Data refers to large and complex data sets that cannot be easily processed using traditional data processing applications.</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lang="en-US"/>
              <a:t>Volume: Size of the data</a:t>
            </a:r>
            <a:endParaRPr/>
          </a:p>
          <a:p>
            <a:pPr indent="-342900" lvl="0" marL="457200" rtl="0" algn="l">
              <a:spcBef>
                <a:spcPts val="0"/>
              </a:spcBef>
              <a:spcAft>
                <a:spcPts val="0"/>
              </a:spcAft>
              <a:buSzPts val="1800"/>
              <a:buChar char="•"/>
            </a:pPr>
            <a:r>
              <a:rPr lang="en-US"/>
              <a:t>Variety: Different sources and formats</a:t>
            </a:r>
            <a:endParaRPr/>
          </a:p>
          <a:p>
            <a:pPr indent="-342900" lvl="0" marL="457200" rtl="0" algn="l">
              <a:spcBef>
                <a:spcPts val="0"/>
              </a:spcBef>
              <a:spcAft>
                <a:spcPts val="0"/>
              </a:spcAft>
              <a:buSzPts val="1800"/>
              <a:buChar char="•"/>
            </a:pPr>
            <a:r>
              <a:rPr lang="en-US"/>
              <a:t>Velocity: Speed of the data</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8"/>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350">
                <a:solidFill>
                  <a:schemeClr val="dk1"/>
                </a:solidFill>
                <a:highlight>
                  <a:srgbClr val="FFFFFF"/>
                </a:highlight>
                <a:latin typeface="Helvetica Neue"/>
                <a:ea typeface="Helvetica Neue"/>
                <a:cs typeface="Helvetica Neue"/>
                <a:sym typeface="Helvetica Neue"/>
              </a:rPr>
              <a:t>Big Data concepts and Terminology</a:t>
            </a:r>
            <a:endParaRPr>
              <a:latin typeface="Helvetica Neue"/>
              <a:ea typeface="Helvetica Neue"/>
              <a:cs typeface="Helvetica Neue"/>
              <a:sym typeface="Helvetica Neue"/>
            </a:endParaRPr>
          </a:p>
        </p:txBody>
      </p:sp>
      <p:sp>
        <p:nvSpPr>
          <p:cNvPr id="41" name="Google Shape;41;p8"/>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0" lvl="0" marL="0" rtl="0" algn="l">
              <a:spcBef>
                <a:spcPts val="100"/>
              </a:spcBef>
              <a:spcAft>
                <a:spcPts val="0"/>
              </a:spcAft>
              <a:buClr>
                <a:schemeClr val="dk1"/>
              </a:buClr>
              <a:buSzPts val="1100"/>
              <a:buFont typeface="Arial"/>
              <a:buNone/>
            </a:pPr>
            <a:r>
              <a:t/>
            </a:r>
            <a:endParaRPr sz="2350">
              <a:solidFill>
                <a:schemeClr val="dk1"/>
              </a:solidFill>
              <a:highlight>
                <a:srgbClr val="FFFFFF"/>
              </a:highlight>
              <a:latin typeface="Arial"/>
              <a:ea typeface="Arial"/>
              <a:cs typeface="Arial"/>
              <a:sym typeface="Arial"/>
            </a:endParaRPr>
          </a:p>
          <a:p>
            <a:pPr indent="0" lvl="0" marL="0" rtl="0" algn="l">
              <a:spcBef>
                <a:spcPts val="100"/>
              </a:spcBef>
              <a:spcAft>
                <a:spcPts val="0"/>
              </a:spcAft>
              <a:buClr>
                <a:schemeClr val="dk1"/>
              </a:buClr>
              <a:buSzPts val="1100"/>
              <a:buFont typeface="Arial"/>
              <a:buNone/>
            </a:pPr>
            <a:r>
              <a:rPr b="1" lang="en-US" sz="2050">
                <a:solidFill>
                  <a:schemeClr val="dk1"/>
                </a:solidFill>
                <a:highlight>
                  <a:srgbClr val="FFFFFF"/>
                </a:highlight>
              </a:rPr>
              <a:t>Clustered computing : </a:t>
            </a:r>
            <a:r>
              <a:rPr lang="en-US" sz="2050">
                <a:solidFill>
                  <a:schemeClr val="dk1"/>
                </a:solidFill>
                <a:highlight>
                  <a:srgbClr val="FFFFFF"/>
                </a:highlight>
              </a:rPr>
              <a:t>Collection of resources of multiple machines</a:t>
            </a:r>
            <a:endParaRPr sz="2050">
              <a:solidFill>
                <a:schemeClr val="dk1"/>
              </a:solidFill>
              <a:highlight>
                <a:srgbClr val="FFFFFF"/>
              </a:highlight>
            </a:endParaRPr>
          </a:p>
          <a:p>
            <a:pPr indent="0" lvl="0" marL="0" rtl="0" algn="l">
              <a:spcBef>
                <a:spcPts val="100"/>
              </a:spcBef>
              <a:spcAft>
                <a:spcPts val="0"/>
              </a:spcAft>
              <a:buClr>
                <a:schemeClr val="dk1"/>
              </a:buClr>
              <a:buSzPts val="1100"/>
              <a:buFont typeface="Arial"/>
              <a:buNone/>
            </a:pPr>
            <a:r>
              <a:rPr b="1" lang="en-US" sz="2050">
                <a:solidFill>
                  <a:schemeClr val="dk1"/>
                </a:solidFill>
                <a:highlight>
                  <a:srgbClr val="FFFFFF"/>
                </a:highlight>
              </a:rPr>
              <a:t>Parallel computing : </a:t>
            </a:r>
            <a:r>
              <a:rPr lang="en-US" sz="2050">
                <a:solidFill>
                  <a:schemeClr val="dk1"/>
                </a:solidFill>
                <a:highlight>
                  <a:srgbClr val="FFFFFF"/>
                </a:highlight>
              </a:rPr>
              <a:t>Simultaneous computation on single computer</a:t>
            </a:r>
            <a:endParaRPr sz="2050">
              <a:solidFill>
                <a:schemeClr val="dk1"/>
              </a:solidFill>
              <a:highlight>
                <a:srgbClr val="FFFFFF"/>
              </a:highlight>
            </a:endParaRPr>
          </a:p>
          <a:p>
            <a:pPr indent="0" lvl="0" marL="0" rtl="0" algn="l">
              <a:spcBef>
                <a:spcPts val="100"/>
              </a:spcBef>
              <a:spcAft>
                <a:spcPts val="0"/>
              </a:spcAft>
              <a:buClr>
                <a:schemeClr val="dk1"/>
              </a:buClr>
              <a:buSzPts val="1100"/>
              <a:buFont typeface="Arial"/>
              <a:buNone/>
            </a:pPr>
            <a:r>
              <a:rPr b="1" lang="en-US" sz="2050">
                <a:solidFill>
                  <a:schemeClr val="dk1"/>
                </a:solidFill>
                <a:highlight>
                  <a:srgbClr val="FFFFFF"/>
                </a:highlight>
              </a:rPr>
              <a:t>Distributed computing :</a:t>
            </a:r>
            <a:r>
              <a:rPr lang="en-US" sz="2050">
                <a:solidFill>
                  <a:schemeClr val="dk1"/>
                </a:solidFill>
                <a:highlight>
                  <a:srgbClr val="FFFFFF"/>
                </a:highlight>
              </a:rPr>
              <a:t> Collection of nodes (networked computers) that run in parallel</a:t>
            </a:r>
            <a:endParaRPr sz="2050">
              <a:solidFill>
                <a:schemeClr val="dk1"/>
              </a:solidFill>
              <a:highlight>
                <a:srgbClr val="FFFFFF"/>
              </a:highlight>
            </a:endParaRPr>
          </a:p>
          <a:p>
            <a:pPr indent="0" lvl="0" marL="0" rtl="0" algn="l">
              <a:spcBef>
                <a:spcPts val="100"/>
              </a:spcBef>
              <a:spcAft>
                <a:spcPts val="0"/>
              </a:spcAft>
              <a:buClr>
                <a:schemeClr val="dk1"/>
              </a:buClr>
              <a:buSzPts val="1100"/>
              <a:buFont typeface="Arial"/>
              <a:buNone/>
            </a:pPr>
            <a:r>
              <a:rPr b="1" lang="en-US" sz="2050">
                <a:solidFill>
                  <a:schemeClr val="dk1"/>
                </a:solidFill>
                <a:highlight>
                  <a:srgbClr val="FFFFFF"/>
                </a:highlight>
              </a:rPr>
              <a:t>Batch processing :</a:t>
            </a:r>
            <a:r>
              <a:rPr lang="en-US" sz="2050">
                <a:solidFill>
                  <a:schemeClr val="dk1"/>
                </a:solidFill>
                <a:highlight>
                  <a:srgbClr val="FFFFFF"/>
                </a:highlight>
              </a:rPr>
              <a:t> Breaking the job into small pieces and running them on individual</a:t>
            </a:r>
            <a:endParaRPr sz="2050">
              <a:solidFill>
                <a:schemeClr val="dk1"/>
              </a:solidFill>
              <a:highlight>
                <a:srgbClr val="FFFFFF"/>
              </a:highlight>
            </a:endParaRPr>
          </a:p>
          <a:p>
            <a:pPr indent="0" lvl="0" marL="0" rtl="0" algn="l">
              <a:spcBef>
                <a:spcPts val="100"/>
              </a:spcBef>
              <a:spcAft>
                <a:spcPts val="0"/>
              </a:spcAft>
              <a:buClr>
                <a:schemeClr val="dk1"/>
              </a:buClr>
              <a:buSzPts val="1100"/>
              <a:buFont typeface="Arial"/>
              <a:buNone/>
            </a:pPr>
            <a:r>
              <a:rPr lang="en-US" sz="2050">
                <a:solidFill>
                  <a:schemeClr val="dk1"/>
                </a:solidFill>
                <a:highlight>
                  <a:srgbClr val="FFFFFF"/>
                </a:highlight>
              </a:rPr>
              <a:t>machines</a:t>
            </a:r>
            <a:endParaRPr sz="2050">
              <a:solidFill>
                <a:schemeClr val="dk1"/>
              </a:solidFill>
              <a:highlight>
                <a:srgbClr val="FFFFFF"/>
              </a:highlight>
            </a:endParaRPr>
          </a:p>
          <a:p>
            <a:pPr indent="0" lvl="0" marL="0" rtl="0" algn="l">
              <a:spcBef>
                <a:spcPts val="100"/>
              </a:spcBef>
              <a:spcAft>
                <a:spcPts val="0"/>
              </a:spcAft>
              <a:buClr>
                <a:schemeClr val="dk1"/>
              </a:buClr>
              <a:buSzPts val="1100"/>
              <a:buFont typeface="Arial"/>
              <a:buNone/>
            </a:pPr>
            <a:r>
              <a:rPr b="1" lang="en-US" sz="2050">
                <a:solidFill>
                  <a:schemeClr val="dk1"/>
                </a:solidFill>
                <a:highlight>
                  <a:srgbClr val="FFFFFF"/>
                </a:highlight>
              </a:rPr>
              <a:t>Real-time processing : </a:t>
            </a:r>
            <a:r>
              <a:rPr lang="en-US" sz="2050">
                <a:solidFill>
                  <a:schemeClr val="dk1"/>
                </a:solidFill>
                <a:highlight>
                  <a:srgbClr val="FFFFFF"/>
                </a:highlight>
              </a:rPr>
              <a:t>Immediate processing of data</a:t>
            </a:r>
            <a:endParaRPr sz="20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Big Data processing systems</a:t>
            </a:r>
            <a:endParaRPr/>
          </a:p>
        </p:txBody>
      </p:sp>
      <p:sp>
        <p:nvSpPr>
          <p:cNvPr id="47" name="Google Shape;47;p9"/>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b="1" lang="en-US"/>
              <a:t>Hadoop/MapReduce: </a:t>
            </a:r>
            <a:endParaRPr b="1"/>
          </a:p>
          <a:p>
            <a:pPr indent="-342900" lvl="0" marL="457200" rtl="0" algn="l">
              <a:spcBef>
                <a:spcPts val="360"/>
              </a:spcBef>
              <a:spcAft>
                <a:spcPts val="0"/>
              </a:spcAft>
              <a:buSzPts val="1800"/>
              <a:buChar char="•"/>
            </a:pPr>
            <a:r>
              <a:rPr lang="en-US"/>
              <a:t>Scalable and fault tolerant framework written in Java</a:t>
            </a:r>
            <a:endParaRPr/>
          </a:p>
          <a:p>
            <a:pPr indent="-342900" lvl="0" marL="457200" rtl="0" algn="l">
              <a:spcBef>
                <a:spcPts val="0"/>
              </a:spcBef>
              <a:spcAft>
                <a:spcPts val="0"/>
              </a:spcAft>
              <a:buSzPts val="1800"/>
              <a:buChar char="•"/>
            </a:pPr>
            <a:r>
              <a:rPr lang="en-US"/>
              <a:t>Open sourceBatch processing</a:t>
            </a:r>
            <a:endParaRPr/>
          </a:p>
          <a:p>
            <a:pPr indent="0" lvl="0" marL="0" rtl="0" algn="l">
              <a:spcBef>
                <a:spcPts val="360"/>
              </a:spcBef>
              <a:spcAft>
                <a:spcPts val="0"/>
              </a:spcAft>
              <a:buNone/>
            </a:pPr>
            <a:r>
              <a:rPr b="1" lang="en-US"/>
              <a:t>Apache Spark: </a:t>
            </a:r>
            <a:endParaRPr b="1"/>
          </a:p>
          <a:p>
            <a:pPr indent="-342900" lvl="0" marL="457200" rtl="0" algn="l">
              <a:spcBef>
                <a:spcPts val="360"/>
              </a:spcBef>
              <a:spcAft>
                <a:spcPts val="0"/>
              </a:spcAft>
              <a:buSzPts val="1800"/>
              <a:buChar char="•"/>
            </a:pPr>
            <a:r>
              <a:rPr lang="en-US"/>
              <a:t>General purpose and lightning fast cluster computing system</a:t>
            </a:r>
            <a:endParaRPr/>
          </a:p>
          <a:p>
            <a:pPr indent="-342900" lvl="0" marL="457200" rtl="0" algn="l">
              <a:spcBef>
                <a:spcPts val="0"/>
              </a:spcBef>
              <a:spcAft>
                <a:spcPts val="0"/>
              </a:spcAft>
              <a:buSzPts val="1800"/>
              <a:buChar char="•"/>
            </a:pPr>
            <a:r>
              <a:rPr lang="en-US"/>
              <a:t>Open source</a:t>
            </a:r>
            <a:endParaRPr/>
          </a:p>
          <a:p>
            <a:pPr indent="-342900" lvl="0" marL="457200" rtl="0" algn="l">
              <a:spcBef>
                <a:spcPts val="0"/>
              </a:spcBef>
              <a:spcAft>
                <a:spcPts val="0"/>
              </a:spcAft>
              <a:buSzPts val="1800"/>
              <a:buChar char="•"/>
            </a:pPr>
            <a:r>
              <a:rPr lang="en-US"/>
              <a:t>Both batch and real-time data processing</a:t>
            </a:r>
            <a:endParaRPr/>
          </a:p>
          <a:p>
            <a:pPr indent="0" lvl="0" marL="0" rtl="0" algn="l">
              <a:spcBef>
                <a:spcPts val="360"/>
              </a:spcBef>
              <a:spcAft>
                <a:spcPts val="0"/>
              </a:spcAft>
              <a:buNone/>
            </a:pPr>
            <a:r>
              <a:t/>
            </a:r>
            <a:endParaRPr/>
          </a:p>
          <a:p>
            <a:pPr indent="0" lvl="0" marL="0" rtl="0" algn="l">
              <a:spcBef>
                <a:spcPts val="360"/>
              </a:spcBef>
              <a:spcAft>
                <a:spcPts val="0"/>
              </a:spcAft>
              <a:buClr>
                <a:schemeClr val="dk1"/>
              </a:buClr>
              <a:buSzPts val="1100"/>
              <a:buFont typeface="Arial"/>
              <a:buNone/>
            </a:pPr>
            <a:r>
              <a:rPr lang="en-US"/>
              <a:t>Note: Apache Spark is nowadays preferred over Hadoop/MapReduce</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rgbClr val="0D0D0D"/>
                </a:solidFill>
                <a:highlight>
                  <a:schemeClr val="lt1"/>
                </a:highlight>
                <a:latin typeface="Arial"/>
                <a:ea typeface="Arial"/>
                <a:cs typeface="Arial"/>
                <a:sym typeface="Arial"/>
              </a:rPr>
              <a:t>Why Apache Spark?</a:t>
            </a:r>
            <a:endParaRPr/>
          </a:p>
        </p:txBody>
      </p:sp>
      <p:sp>
        <p:nvSpPr>
          <p:cNvPr id="53" name="Google Shape;53;p10"/>
          <p:cNvSpPr txBox="1"/>
          <p:nvPr>
            <p:ph idx="1" type="body"/>
          </p:nvPr>
        </p:nvSpPr>
        <p:spPr>
          <a:xfrm>
            <a:off x="546625" y="2231975"/>
            <a:ext cx="3213600" cy="1143000"/>
          </a:xfrm>
          <a:prstGeom prst="rect">
            <a:avLst/>
          </a:prstGeom>
          <a:solidFill>
            <a:srgbClr val="FFF2CC"/>
          </a:solidFill>
        </p:spPr>
        <p:txBody>
          <a:bodyPr anchorCtr="0" anchor="t" bIns="45700" lIns="91425" spcFirstLastPara="1" rIns="91425" wrap="square" tIns="45700">
            <a:noAutofit/>
          </a:bodyPr>
          <a:lstStyle/>
          <a:p>
            <a:pPr indent="0" lvl="0" marL="0" rtl="0" algn="ctr">
              <a:spcBef>
                <a:spcPts val="360"/>
              </a:spcBef>
              <a:spcAft>
                <a:spcPts val="0"/>
              </a:spcAft>
              <a:buNone/>
            </a:pPr>
            <a:r>
              <a:rPr lang="en-US" sz="4000"/>
              <a:t>Speed</a:t>
            </a:r>
            <a:endParaRPr sz="4400"/>
          </a:p>
        </p:txBody>
      </p:sp>
      <p:sp>
        <p:nvSpPr>
          <p:cNvPr id="54" name="Google Shape;54;p10"/>
          <p:cNvSpPr txBox="1"/>
          <p:nvPr>
            <p:ph idx="1" type="body"/>
          </p:nvPr>
        </p:nvSpPr>
        <p:spPr>
          <a:xfrm>
            <a:off x="4224125" y="2231975"/>
            <a:ext cx="3213600" cy="1143000"/>
          </a:xfrm>
          <a:prstGeom prst="rect">
            <a:avLst/>
          </a:prstGeom>
          <a:solidFill>
            <a:srgbClr val="D9EAD3"/>
          </a:solidFill>
        </p:spPr>
        <p:txBody>
          <a:bodyPr anchorCtr="0" anchor="t" bIns="45700" lIns="91425" spcFirstLastPara="1" rIns="91425" wrap="square" tIns="45700">
            <a:noAutofit/>
          </a:bodyPr>
          <a:lstStyle/>
          <a:p>
            <a:pPr indent="0" lvl="0" marL="0" rtl="0" algn="ctr">
              <a:spcBef>
                <a:spcPts val="360"/>
              </a:spcBef>
              <a:spcAft>
                <a:spcPts val="0"/>
              </a:spcAft>
              <a:buNone/>
            </a:pPr>
            <a:r>
              <a:rPr lang="en-US" sz="4000"/>
              <a:t>Ease of Use</a:t>
            </a:r>
            <a:endParaRPr sz="4400"/>
          </a:p>
        </p:txBody>
      </p:sp>
      <p:sp>
        <p:nvSpPr>
          <p:cNvPr id="55" name="Google Shape;55;p10"/>
          <p:cNvSpPr txBox="1"/>
          <p:nvPr>
            <p:ph idx="1" type="body"/>
          </p:nvPr>
        </p:nvSpPr>
        <p:spPr>
          <a:xfrm>
            <a:off x="463825" y="3888525"/>
            <a:ext cx="6013200" cy="1143000"/>
          </a:xfrm>
          <a:prstGeom prst="rect">
            <a:avLst/>
          </a:prstGeom>
          <a:solidFill>
            <a:srgbClr val="F4CCCC"/>
          </a:solidFill>
        </p:spPr>
        <p:txBody>
          <a:bodyPr anchorCtr="0" anchor="t" bIns="45700" lIns="91425" spcFirstLastPara="1" rIns="91425" wrap="square" tIns="45700">
            <a:noAutofit/>
          </a:bodyPr>
          <a:lstStyle/>
          <a:p>
            <a:pPr indent="0" lvl="0" marL="0" rtl="0" algn="ctr">
              <a:spcBef>
                <a:spcPts val="360"/>
              </a:spcBef>
              <a:spcAft>
                <a:spcPts val="0"/>
              </a:spcAft>
              <a:buNone/>
            </a:pPr>
            <a:r>
              <a:rPr lang="en-US" sz="4000"/>
              <a:t>Unified Processing Engine</a:t>
            </a:r>
            <a:endParaRPr sz="4000"/>
          </a:p>
        </p:txBody>
      </p:sp>
      <p:sp>
        <p:nvSpPr>
          <p:cNvPr id="56" name="Google Shape;56;p10"/>
          <p:cNvSpPr txBox="1"/>
          <p:nvPr>
            <p:ph idx="1" type="body"/>
          </p:nvPr>
        </p:nvSpPr>
        <p:spPr>
          <a:xfrm>
            <a:off x="7822075" y="2231975"/>
            <a:ext cx="3773700" cy="1143000"/>
          </a:xfrm>
          <a:prstGeom prst="rect">
            <a:avLst/>
          </a:prstGeom>
          <a:solidFill>
            <a:srgbClr val="A4C2F4"/>
          </a:solidFill>
        </p:spPr>
        <p:txBody>
          <a:bodyPr anchorCtr="0" anchor="t" bIns="45700" lIns="91425" spcFirstLastPara="1" rIns="91425" wrap="square" tIns="45700">
            <a:noAutofit/>
          </a:bodyPr>
          <a:lstStyle/>
          <a:p>
            <a:pPr indent="0" lvl="0" marL="0" rtl="0" algn="ctr">
              <a:spcBef>
                <a:spcPts val="360"/>
              </a:spcBef>
              <a:spcAft>
                <a:spcPts val="0"/>
              </a:spcAft>
              <a:buNone/>
            </a:pPr>
            <a:r>
              <a:rPr lang="en-US" sz="4000"/>
              <a:t>Fault Tolerance</a:t>
            </a:r>
            <a:endParaRPr sz="4400"/>
          </a:p>
        </p:txBody>
      </p:sp>
      <p:sp>
        <p:nvSpPr>
          <p:cNvPr id="57" name="Google Shape;57;p10"/>
          <p:cNvSpPr txBox="1"/>
          <p:nvPr>
            <p:ph idx="1" type="body"/>
          </p:nvPr>
        </p:nvSpPr>
        <p:spPr>
          <a:xfrm>
            <a:off x="6758600" y="3888525"/>
            <a:ext cx="4837200" cy="1143000"/>
          </a:xfrm>
          <a:prstGeom prst="rect">
            <a:avLst/>
          </a:prstGeom>
          <a:solidFill>
            <a:srgbClr val="B4A7D6"/>
          </a:solidFill>
        </p:spPr>
        <p:txBody>
          <a:bodyPr anchorCtr="0" anchor="t" bIns="45700" lIns="91425" spcFirstLastPara="1" rIns="91425" wrap="square" tIns="45700">
            <a:noAutofit/>
          </a:bodyPr>
          <a:lstStyle/>
          <a:p>
            <a:pPr indent="0" lvl="0" marL="0" marR="0" rtl="0" algn="ctr">
              <a:lnSpc>
                <a:spcPct val="100000"/>
              </a:lnSpc>
              <a:spcBef>
                <a:spcPts val="360"/>
              </a:spcBef>
              <a:spcAft>
                <a:spcPts val="0"/>
              </a:spcAft>
              <a:buNone/>
            </a:pPr>
            <a:r>
              <a:rPr lang="en-US" sz="4000"/>
              <a:t>Scalability</a:t>
            </a:r>
            <a:endParaRPr sz="4000"/>
          </a:p>
          <a:p>
            <a:pPr indent="0" lvl="0" marL="0" marR="0" rtl="0" algn="ctr">
              <a:lnSpc>
                <a:spcPct val="100000"/>
              </a:lnSpc>
              <a:spcBef>
                <a:spcPts val="360"/>
              </a:spcBef>
              <a:spcAft>
                <a:spcPts val="0"/>
              </a:spcAft>
              <a:buNone/>
            </a:pPr>
            <a:r>
              <a:t/>
            </a:r>
            <a:endParaRPr sz="4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txBox="1"/>
          <p:nvPr>
            <p:ph type="title"/>
          </p:nvPr>
        </p:nvSpPr>
        <p:spPr>
          <a:xfrm>
            <a:off x="334964" y="234951"/>
            <a:ext cx="78015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The Role of Apache Spark in Big Data Processing</a:t>
            </a:r>
            <a:endParaRPr/>
          </a:p>
        </p:txBody>
      </p:sp>
      <p:sp>
        <p:nvSpPr>
          <p:cNvPr id="63" name="Google Shape;63;p11"/>
          <p:cNvSpPr/>
          <p:nvPr/>
        </p:nvSpPr>
        <p:spPr>
          <a:xfrm>
            <a:off x="5085525" y="3516750"/>
            <a:ext cx="4406400" cy="17229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 name="Google Shape;64;p11"/>
          <p:cNvSpPr/>
          <p:nvPr/>
        </p:nvSpPr>
        <p:spPr>
          <a:xfrm>
            <a:off x="5155100" y="1585900"/>
            <a:ext cx="4336800" cy="17229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5" name="Google Shape;65;p11"/>
          <p:cNvSpPr txBox="1"/>
          <p:nvPr/>
        </p:nvSpPr>
        <p:spPr>
          <a:xfrm>
            <a:off x="5748125" y="3942525"/>
            <a:ext cx="515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latin typeface="Lato"/>
                <a:ea typeface="Lato"/>
                <a:cs typeface="Lato"/>
                <a:sym typeface="Lato"/>
              </a:rPr>
              <a:t>Efficient Data Processing</a:t>
            </a:r>
            <a:endParaRPr b="1" sz="1800">
              <a:solidFill>
                <a:schemeClr val="lt1"/>
              </a:solidFill>
              <a:latin typeface="Lato"/>
              <a:ea typeface="Lato"/>
              <a:cs typeface="Lato"/>
              <a:sym typeface="Lato"/>
            </a:endParaRPr>
          </a:p>
        </p:txBody>
      </p:sp>
      <p:sp>
        <p:nvSpPr>
          <p:cNvPr id="66" name="Google Shape;66;p11"/>
          <p:cNvSpPr txBox="1"/>
          <p:nvPr/>
        </p:nvSpPr>
        <p:spPr>
          <a:xfrm>
            <a:off x="4323575" y="2057425"/>
            <a:ext cx="5151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800">
                <a:solidFill>
                  <a:schemeClr val="lt1"/>
                </a:solidFill>
                <a:latin typeface="Lato"/>
                <a:ea typeface="Lato"/>
                <a:cs typeface="Lato"/>
                <a:sym typeface="Lato"/>
              </a:rPr>
              <a:t>Versatility</a:t>
            </a:r>
            <a:endParaRPr b="1" sz="1800">
              <a:solidFill>
                <a:schemeClr val="lt1"/>
              </a:solidFill>
              <a:latin typeface="Lato"/>
              <a:ea typeface="Lato"/>
              <a:cs typeface="Lato"/>
              <a:sym typeface="Lato"/>
            </a:endParaRPr>
          </a:p>
        </p:txBody>
      </p:sp>
      <p:sp>
        <p:nvSpPr>
          <p:cNvPr id="67" name="Google Shape;67;p11"/>
          <p:cNvSpPr/>
          <p:nvPr/>
        </p:nvSpPr>
        <p:spPr>
          <a:xfrm>
            <a:off x="536700" y="3516750"/>
            <a:ext cx="4336800" cy="17229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8" name="Google Shape;68;p11"/>
          <p:cNvSpPr txBox="1"/>
          <p:nvPr/>
        </p:nvSpPr>
        <p:spPr>
          <a:xfrm>
            <a:off x="1441175" y="4008775"/>
            <a:ext cx="28824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Lato"/>
                <a:ea typeface="Lato"/>
                <a:cs typeface="Lato"/>
                <a:sym typeface="Lato"/>
              </a:rPr>
              <a:t>Advanced Analytics</a:t>
            </a:r>
            <a:endParaRPr sz="1800">
              <a:solidFill>
                <a:schemeClr val="lt1"/>
              </a:solidFill>
              <a:latin typeface="Lato"/>
              <a:ea typeface="Lato"/>
              <a:cs typeface="Lato"/>
              <a:sym typeface="Lato"/>
            </a:endParaRPr>
          </a:p>
        </p:txBody>
      </p:sp>
      <p:sp>
        <p:nvSpPr>
          <p:cNvPr id="69" name="Google Shape;69;p11"/>
          <p:cNvSpPr/>
          <p:nvPr/>
        </p:nvSpPr>
        <p:spPr>
          <a:xfrm>
            <a:off x="536700" y="1585888"/>
            <a:ext cx="4336800" cy="17229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Lato"/>
                <a:ea typeface="Lato"/>
                <a:cs typeface="Lato"/>
                <a:sym typeface="Lato"/>
              </a:rPr>
              <a:t>In-Memory Computing</a:t>
            </a:r>
            <a:endParaRPr b="1">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2"/>
          <p:cNvSpPr txBox="1"/>
          <p:nvPr>
            <p:ph type="title"/>
          </p:nvPr>
        </p:nvSpPr>
        <p:spPr>
          <a:xfrm>
            <a:off x="334963" y="234951"/>
            <a:ext cx="5507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Architecture of Apache Spark</a:t>
            </a:r>
            <a:endParaRPr/>
          </a:p>
        </p:txBody>
      </p:sp>
      <p:sp>
        <p:nvSpPr>
          <p:cNvPr id="75" name="Google Shape;75;p12"/>
          <p:cNvSpPr txBox="1"/>
          <p:nvPr>
            <p:ph idx="1" type="body"/>
          </p:nvPr>
        </p:nvSpPr>
        <p:spPr>
          <a:xfrm>
            <a:off x="334969" y="1585925"/>
            <a:ext cx="5678100" cy="4569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Cluster Manager</a:t>
            </a:r>
            <a:r>
              <a:rPr i="0" lang="en-US">
                <a:solidFill>
                  <a:srgbClr val="0D0D0D"/>
                </a:solidFill>
                <a:highlight>
                  <a:srgbClr val="FFFFFF"/>
                </a:highlight>
              </a:rPr>
              <a:t>: Spark relies on a cluster manager to allocate resources and schedule tasks across the cluster. </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Driver Program</a:t>
            </a:r>
            <a:r>
              <a:rPr i="0" lang="en-US">
                <a:solidFill>
                  <a:srgbClr val="0D0D0D"/>
                </a:solidFill>
                <a:highlight>
                  <a:srgbClr val="FFFFFF"/>
                </a:highlight>
              </a:rPr>
              <a:t>: </a:t>
            </a:r>
            <a:r>
              <a:rPr lang="en-US">
                <a:solidFill>
                  <a:srgbClr val="0D0D0D"/>
                </a:solidFill>
                <a:highlight>
                  <a:srgbClr val="FFFFFF"/>
                </a:highlight>
              </a:rPr>
              <a:t>C</a:t>
            </a:r>
            <a:r>
              <a:rPr i="0" lang="en-US">
                <a:solidFill>
                  <a:srgbClr val="0D0D0D"/>
                </a:solidFill>
                <a:highlight>
                  <a:srgbClr val="FFFFFF"/>
                </a:highlight>
              </a:rPr>
              <a:t>oordinates the execution of tasks and maintains the overall execution state.</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Executor</a:t>
            </a:r>
            <a:r>
              <a:rPr i="0" lang="en-US">
                <a:solidFill>
                  <a:srgbClr val="0D0D0D"/>
                </a:solidFill>
                <a:highlight>
                  <a:srgbClr val="FFFFFF"/>
                </a:highlight>
              </a:rPr>
              <a:t>: </a:t>
            </a:r>
            <a:r>
              <a:rPr lang="en-US">
                <a:solidFill>
                  <a:srgbClr val="0D0D0D"/>
                </a:solidFill>
                <a:highlight>
                  <a:srgbClr val="FFFFFF"/>
                </a:highlight>
              </a:rPr>
              <a:t>M</a:t>
            </a:r>
            <a:r>
              <a:rPr i="0" lang="en-US">
                <a:solidFill>
                  <a:srgbClr val="0D0D0D"/>
                </a:solidFill>
                <a:highlight>
                  <a:srgbClr val="FFFFFF"/>
                </a:highlight>
              </a:rPr>
              <a:t>anage the execution of individual tasks, store data in memory or disk, and communicate with the driver program.</a:t>
            </a:r>
            <a:endParaRPr/>
          </a:p>
          <a:p>
            <a:pPr indent="0" lvl="0" marL="0" rtl="0" algn="l">
              <a:spcBef>
                <a:spcPts val="360"/>
              </a:spcBef>
              <a:spcAft>
                <a:spcPts val="0"/>
              </a:spcAft>
              <a:buSzPts val="1800"/>
              <a:buNone/>
            </a:pPr>
            <a:r>
              <a:rPr lang="en-US">
                <a:solidFill>
                  <a:srgbClr val="565656"/>
                </a:solidFill>
                <a:highlight>
                  <a:srgbClr val="FFFFFF"/>
                </a:highlight>
              </a:rPr>
              <a:t>4</a:t>
            </a:r>
            <a:r>
              <a:rPr lang="en-US">
                <a:solidFill>
                  <a:srgbClr val="0D0D0D"/>
                </a:solidFill>
                <a:highlight>
                  <a:srgbClr val="FFFFFF"/>
                </a:highlight>
              </a:rPr>
              <a:t>.  </a:t>
            </a:r>
            <a:r>
              <a:rPr b="1" i="0" lang="en-US">
                <a:solidFill>
                  <a:srgbClr val="0D0D0D"/>
                </a:solidFill>
                <a:highlight>
                  <a:srgbClr val="FFFFFF"/>
                </a:highlight>
              </a:rPr>
              <a:t>Worker Node</a:t>
            </a:r>
            <a:r>
              <a:rPr i="0" lang="en-US">
                <a:solidFill>
                  <a:srgbClr val="0D0D0D"/>
                </a:solidFill>
                <a:highlight>
                  <a:srgbClr val="FFFFFF"/>
                </a:highlight>
              </a:rPr>
              <a:t>: </a:t>
            </a:r>
            <a:r>
              <a:rPr lang="en-US">
                <a:solidFill>
                  <a:srgbClr val="0D0D0D"/>
                </a:solidFill>
                <a:highlight>
                  <a:srgbClr val="FFFFFF"/>
                </a:highlight>
              </a:rPr>
              <a:t>H</a:t>
            </a:r>
            <a:r>
              <a:rPr i="0" lang="en-US">
                <a:solidFill>
                  <a:srgbClr val="0D0D0D"/>
                </a:solidFill>
                <a:highlight>
                  <a:srgbClr val="FFFFFF"/>
                </a:highlight>
              </a:rPr>
              <a:t>ost one or more executors </a:t>
            </a:r>
            <a:r>
              <a:rPr lang="en-US"/>
              <a:t> </a:t>
            </a:r>
            <a:r>
              <a:rPr i="0" lang="en-US">
                <a:solidFill>
                  <a:srgbClr val="0D0D0D"/>
                </a:solidFill>
                <a:highlight>
                  <a:srgbClr val="FFFFFF"/>
                </a:highlight>
              </a:rPr>
              <a:t>and are responsible for executing tasks and storing data. </a:t>
            </a:r>
            <a:endParaRPr/>
          </a:p>
          <a:p>
            <a:pPr indent="0" lvl="0" marL="0" rtl="0" algn="l">
              <a:spcBef>
                <a:spcPts val="360"/>
              </a:spcBef>
              <a:spcAft>
                <a:spcPts val="0"/>
              </a:spcAft>
              <a:buSzPts val="1800"/>
              <a:buNone/>
            </a:pPr>
            <a:r>
              <a:rPr i="0" lang="en-US">
                <a:solidFill>
                  <a:srgbClr val="0D0D0D"/>
                </a:solidFill>
                <a:highlight>
                  <a:srgbClr val="FFFFFF"/>
                </a:highlight>
              </a:rPr>
              <a:t>     </a:t>
            </a:r>
            <a:endParaRPr/>
          </a:p>
          <a:p>
            <a:pPr indent="-228600" lvl="0" marL="342900" rtl="0" algn="l">
              <a:spcBef>
                <a:spcPts val="360"/>
              </a:spcBef>
              <a:spcAft>
                <a:spcPts val="0"/>
              </a:spcAft>
              <a:buSzPts val="1800"/>
              <a:buNone/>
            </a:pPr>
            <a:r>
              <a:t/>
            </a:r>
            <a:endParaRPr/>
          </a:p>
        </p:txBody>
      </p:sp>
      <p:pic>
        <p:nvPicPr>
          <p:cNvPr id="76" name="Google Shape;76;p12"/>
          <p:cNvPicPr preferRelativeResize="0"/>
          <p:nvPr/>
        </p:nvPicPr>
        <p:blipFill rotWithShape="1">
          <a:blip r:embed="rId3">
            <a:alphaModFix/>
          </a:blip>
          <a:srcRect b="0" l="0" r="0" t="0"/>
          <a:stretch/>
        </p:blipFill>
        <p:spPr>
          <a:xfrm>
            <a:off x="7106475" y="2906651"/>
            <a:ext cx="4494976" cy="30030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3"/>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RDDs (Resilient Distributed Datasets): The Basic Concept of Spark</a:t>
            </a:r>
            <a:endParaRPr/>
          </a:p>
        </p:txBody>
      </p:sp>
      <p:sp>
        <p:nvSpPr>
          <p:cNvPr id="82" name="Google Shape;82;p13"/>
          <p:cNvSpPr txBox="1"/>
          <p:nvPr>
            <p:ph idx="1" type="body"/>
          </p:nvPr>
        </p:nvSpPr>
        <p:spPr>
          <a:xfrm>
            <a:off x="334979" y="1585900"/>
            <a:ext cx="10200600" cy="4560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Immutable Distributed Collections</a:t>
            </a:r>
            <a:r>
              <a:rPr i="0" lang="en-US">
                <a:solidFill>
                  <a:srgbClr val="0D0D0D"/>
                </a:solidFill>
                <a:highlight>
                  <a:srgbClr val="FFFFFF"/>
                </a:highlight>
              </a:rPr>
              <a:t>: distributed collections of immutable objects spread across multiple nodes in a cluster. </a:t>
            </a:r>
            <a:endParaRPr>
              <a:solidFill>
                <a:srgbClr val="0D0D0D"/>
              </a:solidFill>
              <a:highlight>
                <a:srgbClr val="FFFFFF"/>
              </a:highlight>
            </a:endParaRPr>
          </a:p>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Fault Tolerance</a:t>
            </a:r>
            <a:r>
              <a:rPr i="0" lang="en-US">
                <a:solidFill>
                  <a:srgbClr val="0D0D0D"/>
                </a:solidFill>
                <a:highlight>
                  <a:srgbClr val="FFFFFF"/>
                </a:highlight>
              </a:rPr>
              <a:t>: RDDs are fault-tolerant by nature. </a:t>
            </a:r>
            <a:endParaRPr>
              <a:solidFill>
                <a:srgbClr val="0D0D0D"/>
              </a:solidFill>
              <a:highlight>
                <a:srgbClr val="FFFFFF"/>
              </a:highlight>
            </a:endParaRPr>
          </a:p>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Lazy Evaluation</a:t>
            </a:r>
            <a:r>
              <a:rPr i="0" lang="en-US">
                <a:solidFill>
                  <a:srgbClr val="0D0D0D"/>
                </a:solidFill>
                <a:highlight>
                  <a:srgbClr val="FFFFFF"/>
                </a:highlight>
              </a:rPr>
              <a:t>: RDDs support lazy evaluation, meaning transformations on RDDs are not computed immediately.</a:t>
            </a:r>
            <a:endParaRPr>
              <a:solidFill>
                <a:srgbClr val="0D0D0D"/>
              </a:solidFill>
              <a:highlight>
                <a:srgbClr val="FFFFFF"/>
              </a:highlight>
            </a:endParaRPr>
          </a:p>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Partitioning</a:t>
            </a:r>
            <a:r>
              <a:rPr i="0" lang="en-US">
                <a:solidFill>
                  <a:srgbClr val="0D0D0D"/>
                </a:solidFill>
                <a:highlight>
                  <a:srgbClr val="FFFFFF"/>
                </a:highlight>
              </a:rPr>
              <a:t>: RDDs are divided into partitions, which are basic units of parallelism in Spark. </a:t>
            </a:r>
            <a:endParaRPr>
              <a:solidFill>
                <a:srgbClr val="0D0D0D"/>
              </a:solidFill>
              <a:highlight>
                <a:srgbClr val="FFFFFF"/>
              </a:highlight>
            </a:endParaRPr>
          </a:p>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Transformation Operations</a:t>
            </a:r>
            <a:r>
              <a:rPr i="0" lang="en-US">
                <a:solidFill>
                  <a:srgbClr val="0D0D0D"/>
                </a:solidFill>
                <a:highlight>
                  <a:srgbClr val="FFFFFF"/>
                </a:highlight>
              </a:rPr>
              <a:t>: RDDs support two types of operations: transformations and actions. </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Actions</a:t>
            </a:r>
            <a:r>
              <a:rPr i="0" lang="en-US">
                <a:solidFill>
                  <a:srgbClr val="0D0D0D"/>
                </a:solidFill>
                <a:highlight>
                  <a:srgbClr val="FFFFFF"/>
                </a:highlight>
              </a:rPr>
              <a:t>: Actions are operations that trigger the execution of transformations and return results to the driver program, such as count, collect, and saveAsTextFile.</a:t>
            </a:r>
            <a:endParaRPr/>
          </a:p>
          <a:p>
            <a:pPr indent="0" lvl="0" marL="0" rtl="0" algn="l">
              <a:spcBef>
                <a:spcPts val="360"/>
              </a:spcBef>
              <a:spcAft>
                <a:spcPts val="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More on RDD</a:t>
            </a:r>
            <a:endParaRPr/>
          </a:p>
        </p:txBody>
      </p:sp>
      <p:sp>
        <p:nvSpPr>
          <p:cNvPr id="88" name="Google Shape;88;p14"/>
          <p:cNvSpPr txBox="1"/>
          <p:nvPr>
            <p:ph idx="1" type="body"/>
          </p:nvPr>
        </p:nvSpPr>
        <p:spPr>
          <a:xfrm>
            <a:off x="334975" y="1585975"/>
            <a:ext cx="7053000" cy="3880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RDD = Resilient Distributed Datasets</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b="1" lang="en-US"/>
              <a:t>Resilient:</a:t>
            </a:r>
            <a:r>
              <a:rPr lang="en-US"/>
              <a:t> Ability to withstand failures</a:t>
            </a:r>
            <a:endParaRPr/>
          </a:p>
          <a:p>
            <a:pPr indent="-342900" lvl="0" marL="457200" rtl="0" algn="l">
              <a:spcBef>
                <a:spcPts val="0"/>
              </a:spcBef>
              <a:spcAft>
                <a:spcPts val="0"/>
              </a:spcAft>
              <a:buSzPts val="1800"/>
              <a:buChar char="•"/>
            </a:pPr>
            <a:r>
              <a:rPr b="1" lang="en-US"/>
              <a:t>Distributed: </a:t>
            </a:r>
            <a:r>
              <a:rPr lang="en-US"/>
              <a:t>Spanning across multiple machines</a:t>
            </a:r>
            <a:endParaRPr/>
          </a:p>
          <a:p>
            <a:pPr indent="-342900" lvl="0" marL="457200" rtl="0" algn="l">
              <a:spcBef>
                <a:spcPts val="0"/>
              </a:spcBef>
              <a:spcAft>
                <a:spcPts val="0"/>
              </a:spcAft>
              <a:buSzPts val="1800"/>
              <a:buChar char="•"/>
            </a:pPr>
            <a:r>
              <a:rPr b="1" lang="en-US"/>
              <a:t>Datasets:</a:t>
            </a:r>
            <a:r>
              <a:rPr lang="en-US"/>
              <a:t> Collection of partitioned data e.g, Arrays, Tables, Tuples etc.,</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pic>
        <p:nvPicPr>
          <p:cNvPr id="89" name="Google Shape;89;p14"/>
          <p:cNvPicPr preferRelativeResize="0"/>
          <p:nvPr/>
        </p:nvPicPr>
        <p:blipFill>
          <a:blip r:embed="rId3">
            <a:alphaModFix/>
          </a:blip>
          <a:stretch>
            <a:fillRect/>
          </a:stretch>
        </p:blipFill>
        <p:spPr>
          <a:xfrm>
            <a:off x="7242300" y="1958065"/>
            <a:ext cx="4076700" cy="3152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Parallelized collection (parallelizing)</a:t>
            </a:r>
            <a:endParaRPr/>
          </a:p>
        </p:txBody>
      </p:sp>
      <p:sp>
        <p:nvSpPr>
          <p:cNvPr id="95" name="Google Shape;95;p15"/>
          <p:cNvSpPr txBox="1"/>
          <p:nvPr>
            <p:ph idx="1" type="body"/>
          </p:nvPr>
        </p:nvSpPr>
        <p:spPr>
          <a:xfrm>
            <a:off x="334975" y="1585915"/>
            <a:ext cx="11522100" cy="74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parallelize() for creating RDDs from python lists</a:t>
            </a:r>
            <a:endParaRPr/>
          </a:p>
        </p:txBody>
      </p:sp>
      <p:pic>
        <p:nvPicPr>
          <p:cNvPr id="96" name="Google Shape;96;p15"/>
          <p:cNvPicPr preferRelativeResize="0"/>
          <p:nvPr/>
        </p:nvPicPr>
        <p:blipFill>
          <a:blip r:embed="rId3">
            <a:alphaModFix/>
          </a:blip>
          <a:stretch>
            <a:fillRect/>
          </a:stretch>
        </p:blipFill>
        <p:spPr>
          <a:xfrm>
            <a:off x="1875175" y="2753040"/>
            <a:ext cx="7610475" cy="2066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From external datasets</a:t>
            </a:r>
            <a:endParaRPr/>
          </a:p>
        </p:txBody>
      </p:sp>
      <p:sp>
        <p:nvSpPr>
          <p:cNvPr id="102" name="Google Shape;102;p16"/>
          <p:cNvSpPr txBox="1"/>
          <p:nvPr>
            <p:ph idx="1" type="body"/>
          </p:nvPr>
        </p:nvSpPr>
        <p:spPr>
          <a:xfrm>
            <a:off x="334975" y="1585915"/>
            <a:ext cx="11522100" cy="851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textFile() for creating RDDs from external datasets</a:t>
            </a:r>
            <a:endParaRPr/>
          </a:p>
        </p:txBody>
      </p:sp>
      <p:pic>
        <p:nvPicPr>
          <p:cNvPr id="103" name="Google Shape;103;p16"/>
          <p:cNvPicPr preferRelativeResize="0"/>
          <p:nvPr/>
        </p:nvPicPr>
        <p:blipFill>
          <a:blip r:embed="rId3">
            <a:alphaModFix/>
          </a:blip>
          <a:stretch>
            <a:fillRect/>
          </a:stretch>
        </p:blipFill>
        <p:spPr>
          <a:xfrm>
            <a:off x="2271713" y="2681288"/>
            <a:ext cx="7648575" cy="1495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Understanding Partitioning in PySpark</a:t>
            </a:r>
            <a:endParaRPr/>
          </a:p>
        </p:txBody>
      </p:sp>
      <p:pic>
        <p:nvPicPr>
          <p:cNvPr id="109" name="Google Shape;109;p17"/>
          <p:cNvPicPr preferRelativeResize="0"/>
          <p:nvPr/>
        </p:nvPicPr>
        <p:blipFill>
          <a:blip r:embed="rId3">
            <a:alphaModFix/>
          </a:blip>
          <a:stretch>
            <a:fillRect/>
          </a:stretch>
        </p:blipFill>
        <p:spPr>
          <a:xfrm>
            <a:off x="795125" y="2138375"/>
            <a:ext cx="9889449" cy="3212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Overview of PySpark operations</a:t>
            </a:r>
            <a:endParaRPr/>
          </a:p>
        </p:txBody>
      </p:sp>
      <p:pic>
        <p:nvPicPr>
          <p:cNvPr id="115" name="Google Shape;115;p18"/>
          <p:cNvPicPr preferRelativeResize="0"/>
          <p:nvPr/>
        </p:nvPicPr>
        <p:blipFill>
          <a:blip r:embed="rId3">
            <a:alphaModFix/>
          </a:blip>
          <a:stretch>
            <a:fillRect/>
          </a:stretch>
        </p:blipFill>
        <p:spPr>
          <a:xfrm>
            <a:off x="5171675" y="1762276"/>
            <a:ext cx="5895975" cy="2105025"/>
          </a:xfrm>
          <a:prstGeom prst="rect">
            <a:avLst/>
          </a:prstGeom>
          <a:noFill/>
          <a:ln>
            <a:noFill/>
          </a:ln>
        </p:spPr>
      </p:pic>
      <p:sp>
        <p:nvSpPr>
          <p:cNvPr id="116" name="Google Shape;116;p18"/>
          <p:cNvSpPr txBox="1"/>
          <p:nvPr/>
        </p:nvSpPr>
        <p:spPr>
          <a:xfrm>
            <a:off x="397575" y="1938125"/>
            <a:ext cx="3296400" cy="2105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262626"/>
              </a:buClr>
              <a:buSzPts val="1800"/>
              <a:buFont typeface="Lato"/>
              <a:buChar char="●"/>
            </a:pPr>
            <a:r>
              <a:rPr lang="en-US" sz="1800">
                <a:solidFill>
                  <a:srgbClr val="262626"/>
                </a:solidFill>
                <a:latin typeface="Lato"/>
                <a:ea typeface="Lato"/>
                <a:cs typeface="Lato"/>
                <a:sym typeface="Lato"/>
              </a:rPr>
              <a:t>Transformations create new RDDs</a:t>
            </a:r>
            <a:endParaRPr sz="1800">
              <a:solidFill>
                <a:srgbClr val="262626"/>
              </a:solidFill>
              <a:latin typeface="Lato"/>
              <a:ea typeface="Lato"/>
              <a:cs typeface="Lato"/>
              <a:sym typeface="Lato"/>
            </a:endParaRPr>
          </a:p>
          <a:p>
            <a:pPr indent="-342900" lvl="0" marL="457200" rtl="0" algn="l">
              <a:spcBef>
                <a:spcPts val="0"/>
              </a:spcBef>
              <a:spcAft>
                <a:spcPts val="0"/>
              </a:spcAft>
              <a:buClr>
                <a:srgbClr val="262626"/>
              </a:buClr>
              <a:buSzPts val="1800"/>
              <a:buFont typeface="Lato"/>
              <a:buChar char="●"/>
            </a:pPr>
            <a:r>
              <a:rPr lang="en-US" sz="1800">
                <a:solidFill>
                  <a:srgbClr val="262626"/>
                </a:solidFill>
                <a:latin typeface="Lato"/>
                <a:ea typeface="Lato"/>
                <a:cs typeface="Lato"/>
                <a:sym typeface="Lato"/>
              </a:rPr>
              <a:t>Actions perform computation on the RDDs</a:t>
            </a:r>
            <a:endParaRPr sz="1800">
              <a:solidFill>
                <a:srgbClr val="262626"/>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RDD Transformations</a:t>
            </a:r>
            <a:endParaRPr/>
          </a:p>
        </p:txBody>
      </p:sp>
      <p:sp>
        <p:nvSpPr>
          <p:cNvPr id="122" name="Google Shape;122;p19"/>
          <p:cNvSpPr txBox="1"/>
          <p:nvPr>
            <p:ph idx="1" type="body"/>
          </p:nvPr>
        </p:nvSpPr>
        <p:spPr>
          <a:xfrm>
            <a:off x="334975" y="1585915"/>
            <a:ext cx="11522100" cy="6834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Transformations follow Lazy evaluation</a:t>
            </a:r>
            <a:endParaRPr/>
          </a:p>
        </p:txBody>
      </p:sp>
      <p:sp>
        <p:nvSpPr>
          <p:cNvPr id="123" name="Google Shape;123;p19"/>
          <p:cNvSpPr txBox="1"/>
          <p:nvPr/>
        </p:nvSpPr>
        <p:spPr>
          <a:xfrm>
            <a:off x="679175" y="4986125"/>
            <a:ext cx="10370100" cy="6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800">
                <a:solidFill>
                  <a:srgbClr val="262626"/>
                </a:solidFill>
                <a:latin typeface="Lato"/>
                <a:ea typeface="Lato"/>
                <a:cs typeface="Lato"/>
                <a:sym typeface="Lato"/>
              </a:rPr>
              <a:t>Basic RDD Transformations</a:t>
            </a:r>
            <a:r>
              <a:rPr lang="en-US" sz="1800">
                <a:solidFill>
                  <a:srgbClr val="262626"/>
                </a:solidFill>
                <a:latin typeface="Lato"/>
                <a:ea typeface="Lato"/>
                <a:cs typeface="Lato"/>
                <a:sym typeface="Lato"/>
              </a:rPr>
              <a:t> →map(), filter(), flatMap(), and union()</a:t>
            </a:r>
            <a:endParaRPr sz="1800">
              <a:solidFill>
                <a:srgbClr val="26262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800">
              <a:solidFill>
                <a:srgbClr val="262626"/>
              </a:solidFill>
              <a:latin typeface="Lato"/>
              <a:ea typeface="Lato"/>
              <a:cs typeface="Lato"/>
              <a:sym typeface="Lato"/>
            </a:endParaRPr>
          </a:p>
          <a:p>
            <a:pPr indent="0" lvl="0" marL="0" rtl="0" algn="l">
              <a:spcBef>
                <a:spcPts val="0"/>
              </a:spcBef>
              <a:spcAft>
                <a:spcPts val="0"/>
              </a:spcAft>
              <a:buNone/>
            </a:pPr>
            <a:r>
              <a:t/>
            </a:r>
            <a:endParaRPr sz="1800">
              <a:solidFill>
                <a:srgbClr val="262626"/>
              </a:solidFill>
              <a:latin typeface="Lato"/>
              <a:ea typeface="Lato"/>
              <a:cs typeface="Lato"/>
              <a:sym typeface="Lato"/>
            </a:endParaRPr>
          </a:p>
        </p:txBody>
      </p:sp>
      <p:pic>
        <p:nvPicPr>
          <p:cNvPr id="124" name="Google Shape;124;p19"/>
          <p:cNvPicPr preferRelativeResize="0"/>
          <p:nvPr/>
        </p:nvPicPr>
        <p:blipFill>
          <a:blip r:embed="rId3">
            <a:alphaModFix/>
          </a:blip>
          <a:stretch>
            <a:fillRect/>
          </a:stretch>
        </p:blipFill>
        <p:spPr>
          <a:xfrm>
            <a:off x="1341775" y="2472425"/>
            <a:ext cx="8348874" cy="1419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map() Transformation</a:t>
            </a:r>
            <a:endParaRPr/>
          </a:p>
        </p:txBody>
      </p:sp>
      <p:pic>
        <p:nvPicPr>
          <p:cNvPr id="130" name="Google Shape;130;p20"/>
          <p:cNvPicPr preferRelativeResize="0"/>
          <p:nvPr/>
        </p:nvPicPr>
        <p:blipFill>
          <a:blip r:embed="rId3">
            <a:alphaModFix/>
          </a:blip>
          <a:stretch>
            <a:fillRect/>
          </a:stretch>
        </p:blipFill>
        <p:spPr>
          <a:xfrm>
            <a:off x="1560425" y="1824038"/>
            <a:ext cx="7743825" cy="3209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filter() Transformation</a:t>
            </a:r>
            <a:endParaRPr/>
          </a:p>
        </p:txBody>
      </p:sp>
      <p:pic>
        <p:nvPicPr>
          <p:cNvPr id="136" name="Google Shape;136;p21"/>
          <p:cNvPicPr preferRelativeResize="0"/>
          <p:nvPr/>
        </p:nvPicPr>
        <p:blipFill>
          <a:blip r:embed="rId3">
            <a:alphaModFix/>
          </a:blip>
          <a:stretch>
            <a:fillRect/>
          </a:stretch>
        </p:blipFill>
        <p:spPr>
          <a:xfrm>
            <a:off x="1229150" y="1757363"/>
            <a:ext cx="7781925" cy="3343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flatMap() Transformation</a:t>
            </a:r>
            <a:endParaRPr/>
          </a:p>
        </p:txBody>
      </p:sp>
      <p:pic>
        <p:nvPicPr>
          <p:cNvPr id="142" name="Google Shape;142;p22"/>
          <p:cNvPicPr preferRelativeResize="0"/>
          <p:nvPr/>
        </p:nvPicPr>
        <p:blipFill>
          <a:blip r:embed="rId3">
            <a:alphaModFix/>
          </a:blip>
          <a:stretch>
            <a:fillRect/>
          </a:stretch>
        </p:blipFill>
        <p:spPr>
          <a:xfrm>
            <a:off x="1311950" y="1885951"/>
            <a:ext cx="7315200" cy="3086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union() Transformation</a:t>
            </a:r>
            <a:endParaRPr/>
          </a:p>
        </p:txBody>
      </p:sp>
      <p:pic>
        <p:nvPicPr>
          <p:cNvPr id="148" name="Google Shape;148;p23"/>
          <p:cNvPicPr preferRelativeResize="0"/>
          <p:nvPr/>
        </p:nvPicPr>
        <p:blipFill>
          <a:blip r:embed="rId3">
            <a:alphaModFix/>
          </a:blip>
          <a:stretch>
            <a:fillRect/>
          </a:stretch>
        </p:blipFill>
        <p:spPr>
          <a:xfrm>
            <a:off x="947525" y="1795400"/>
            <a:ext cx="8683774" cy="4068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RDD Actions</a:t>
            </a:r>
            <a:endParaRPr/>
          </a:p>
        </p:txBody>
      </p:sp>
      <p:sp>
        <p:nvSpPr>
          <p:cNvPr id="154" name="Google Shape;154;p24"/>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2200"/>
              <a:t>They are operations that return a value after running a computation on the RDD</a:t>
            </a:r>
            <a:endParaRPr sz="2200"/>
          </a:p>
          <a:p>
            <a:pPr indent="0" lvl="0" marL="0" rtl="0" algn="l">
              <a:spcBef>
                <a:spcPts val="360"/>
              </a:spcBef>
              <a:spcAft>
                <a:spcPts val="0"/>
              </a:spcAft>
              <a:buNone/>
            </a:pPr>
            <a:r>
              <a:rPr lang="en-US" sz="2200"/>
              <a:t>Basic RDD Actions</a:t>
            </a:r>
            <a:endParaRPr sz="2200"/>
          </a:p>
          <a:p>
            <a:pPr indent="-368300" lvl="0" marL="457200" rtl="0" algn="l">
              <a:spcBef>
                <a:spcPts val="360"/>
              </a:spcBef>
              <a:spcAft>
                <a:spcPts val="0"/>
              </a:spcAft>
              <a:buSzPts val="2200"/>
              <a:buChar char="•"/>
            </a:pPr>
            <a:r>
              <a:rPr lang="en-US" sz="2200"/>
              <a:t>collect()</a:t>
            </a:r>
            <a:endParaRPr sz="2200"/>
          </a:p>
          <a:p>
            <a:pPr indent="-368300" lvl="0" marL="457200" rtl="0" algn="l">
              <a:spcBef>
                <a:spcPts val="0"/>
              </a:spcBef>
              <a:spcAft>
                <a:spcPts val="0"/>
              </a:spcAft>
              <a:buSzPts val="2200"/>
              <a:buChar char="•"/>
            </a:pPr>
            <a:r>
              <a:rPr lang="en-US" sz="2200"/>
              <a:t>take(N)</a:t>
            </a:r>
            <a:endParaRPr sz="2200"/>
          </a:p>
          <a:p>
            <a:pPr indent="-368300" lvl="0" marL="457200" rtl="0" algn="l">
              <a:spcBef>
                <a:spcPts val="0"/>
              </a:spcBef>
              <a:spcAft>
                <a:spcPts val="0"/>
              </a:spcAft>
              <a:buSzPts val="2200"/>
              <a:buChar char="•"/>
            </a:pPr>
            <a:r>
              <a:rPr lang="en-US" sz="2200"/>
              <a:t>first()</a:t>
            </a:r>
            <a:endParaRPr sz="2200"/>
          </a:p>
          <a:p>
            <a:pPr indent="-368300" lvl="0" marL="457200" rtl="0" algn="l">
              <a:spcBef>
                <a:spcPts val="0"/>
              </a:spcBef>
              <a:spcAft>
                <a:spcPts val="0"/>
              </a:spcAft>
              <a:buSzPts val="2200"/>
              <a:buChar char="•"/>
            </a:pPr>
            <a:r>
              <a:rPr lang="en-US" sz="2200"/>
              <a:t>count()</a:t>
            </a:r>
            <a:endParaRPr sz="2200"/>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collect() and take() </a:t>
            </a:r>
            <a:endParaRPr/>
          </a:p>
        </p:txBody>
      </p:sp>
      <p:sp>
        <p:nvSpPr>
          <p:cNvPr id="160" name="Google Shape;160;p25"/>
          <p:cNvSpPr txBox="1"/>
          <p:nvPr>
            <p:ph idx="1" type="body"/>
          </p:nvPr>
        </p:nvSpPr>
        <p:spPr>
          <a:xfrm>
            <a:off x="334968" y="1585925"/>
            <a:ext cx="44856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b="1" lang="en-US" sz="2200"/>
              <a:t>Actions</a:t>
            </a:r>
            <a:endParaRPr b="1" sz="2200"/>
          </a:p>
          <a:p>
            <a:pPr indent="-368300" lvl="0" marL="457200" rtl="0" algn="l">
              <a:spcBef>
                <a:spcPts val="360"/>
              </a:spcBef>
              <a:spcAft>
                <a:spcPts val="0"/>
              </a:spcAft>
              <a:buSzPts val="2200"/>
              <a:buChar char="•"/>
            </a:pPr>
            <a:r>
              <a:rPr lang="en-US" sz="2200"/>
              <a:t>collect() return all the elements of the dataset as an array</a:t>
            </a:r>
            <a:endParaRPr sz="2200"/>
          </a:p>
          <a:p>
            <a:pPr indent="-368300" lvl="0" marL="457200" rtl="0" algn="l">
              <a:spcBef>
                <a:spcPts val="0"/>
              </a:spcBef>
              <a:spcAft>
                <a:spcPts val="0"/>
              </a:spcAft>
              <a:buSzPts val="2200"/>
              <a:buChar char="•"/>
            </a:pPr>
            <a:r>
              <a:rPr lang="en-US" sz="2200"/>
              <a:t>take(N) returns an array with the first N elements of the dataset</a:t>
            </a:r>
            <a:endParaRPr sz="2200"/>
          </a:p>
        </p:txBody>
      </p:sp>
      <p:pic>
        <p:nvPicPr>
          <p:cNvPr id="161" name="Google Shape;161;p25"/>
          <p:cNvPicPr preferRelativeResize="0"/>
          <p:nvPr/>
        </p:nvPicPr>
        <p:blipFill>
          <a:blip r:embed="rId3">
            <a:alphaModFix/>
          </a:blip>
          <a:stretch>
            <a:fillRect/>
          </a:stretch>
        </p:blipFill>
        <p:spPr>
          <a:xfrm>
            <a:off x="4972968" y="1530351"/>
            <a:ext cx="7066633" cy="18884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 and count() Actions</a:t>
            </a:r>
            <a:endParaRPr/>
          </a:p>
        </p:txBody>
      </p:sp>
      <p:pic>
        <p:nvPicPr>
          <p:cNvPr id="167" name="Google Shape;167;p26"/>
          <p:cNvPicPr preferRelativeResize="0"/>
          <p:nvPr/>
        </p:nvPicPr>
        <p:blipFill>
          <a:blip r:embed="rId3">
            <a:alphaModFix/>
          </a:blip>
          <a:stretch>
            <a:fillRect/>
          </a:stretch>
        </p:blipFill>
        <p:spPr>
          <a:xfrm>
            <a:off x="1676400" y="1927900"/>
            <a:ext cx="9064700" cy="3290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Introduction to pair RDDs in PySpark</a:t>
            </a:r>
            <a:endParaRPr/>
          </a:p>
        </p:txBody>
      </p:sp>
      <p:sp>
        <p:nvSpPr>
          <p:cNvPr id="173" name="Google Shape;173;p27"/>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77825" lvl="0" marL="457200" rtl="0" algn="l">
              <a:spcBef>
                <a:spcPts val="100"/>
              </a:spcBef>
              <a:spcAft>
                <a:spcPts val="0"/>
              </a:spcAft>
              <a:buClr>
                <a:schemeClr val="dk1"/>
              </a:buClr>
              <a:buSzPts val="2350"/>
              <a:buChar char="•"/>
            </a:pPr>
            <a:r>
              <a:rPr lang="en-US" sz="2350">
                <a:solidFill>
                  <a:schemeClr val="dk1"/>
                </a:solidFill>
                <a:highlight>
                  <a:srgbClr val="FFFFFF"/>
                </a:highlight>
              </a:rPr>
              <a:t>Real life datasets are usually key/value pairs</a:t>
            </a:r>
            <a:endParaRPr sz="2350">
              <a:solidFill>
                <a:schemeClr val="dk1"/>
              </a:solidFill>
              <a:highlight>
                <a:srgbClr val="FFFFFF"/>
              </a:highlight>
            </a:endParaRPr>
          </a:p>
          <a:p>
            <a:pPr indent="-377825" lvl="0" marL="457200" rtl="0" algn="l">
              <a:spcBef>
                <a:spcPts val="0"/>
              </a:spcBef>
              <a:spcAft>
                <a:spcPts val="0"/>
              </a:spcAft>
              <a:buClr>
                <a:schemeClr val="dk1"/>
              </a:buClr>
              <a:buSzPts val="2350"/>
              <a:buChar char="•"/>
            </a:pPr>
            <a:r>
              <a:rPr lang="en-US" sz="2350">
                <a:solidFill>
                  <a:schemeClr val="dk1"/>
                </a:solidFill>
                <a:highlight>
                  <a:srgbClr val="FFFFFF"/>
                </a:highlight>
              </a:rPr>
              <a:t>Each row is a key and maps to one or more values</a:t>
            </a:r>
            <a:endParaRPr sz="2350">
              <a:solidFill>
                <a:schemeClr val="dk1"/>
              </a:solidFill>
              <a:highlight>
                <a:srgbClr val="FFFFFF"/>
              </a:highlight>
            </a:endParaRPr>
          </a:p>
          <a:p>
            <a:pPr indent="-377825" lvl="0" marL="457200" rtl="0" algn="l">
              <a:spcBef>
                <a:spcPts val="0"/>
              </a:spcBef>
              <a:spcAft>
                <a:spcPts val="0"/>
              </a:spcAft>
              <a:buClr>
                <a:schemeClr val="dk1"/>
              </a:buClr>
              <a:buSzPts val="2350"/>
              <a:buChar char="•"/>
            </a:pPr>
            <a:r>
              <a:rPr lang="en-US" sz="2350">
                <a:solidFill>
                  <a:schemeClr val="dk1"/>
                </a:solidFill>
                <a:highlight>
                  <a:srgbClr val="FFFFFF"/>
                </a:highlight>
              </a:rPr>
              <a:t>Pair RDD is a special data structure to work with this kind of datasets</a:t>
            </a:r>
            <a:endParaRPr sz="2350">
              <a:solidFill>
                <a:schemeClr val="dk1"/>
              </a:solidFill>
              <a:highlight>
                <a:srgbClr val="FFFFFF"/>
              </a:highlight>
            </a:endParaRPr>
          </a:p>
          <a:p>
            <a:pPr indent="-377825" lvl="0" marL="457200" rtl="0" algn="l">
              <a:spcBef>
                <a:spcPts val="0"/>
              </a:spcBef>
              <a:spcAft>
                <a:spcPts val="0"/>
              </a:spcAft>
              <a:buClr>
                <a:schemeClr val="dk1"/>
              </a:buClr>
              <a:buSzPts val="2350"/>
              <a:buChar char="•"/>
            </a:pPr>
            <a:r>
              <a:rPr lang="en-US" sz="2350">
                <a:solidFill>
                  <a:schemeClr val="dk1"/>
                </a:solidFill>
                <a:highlight>
                  <a:srgbClr val="FFFFFF"/>
                </a:highlight>
              </a:rPr>
              <a:t>Pair RDD: Key is the identifier and value is the data</a:t>
            </a:r>
            <a:endParaRPr sz="23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Creating pair RDDs</a:t>
            </a:r>
            <a:endParaRPr/>
          </a:p>
        </p:txBody>
      </p:sp>
      <p:sp>
        <p:nvSpPr>
          <p:cNvPr id="179" name="Google Shape;179;p28"/>
          <p:cNvSpPr txBox="1"/>
          <p:nvPr>
            <p:ph idx="1" type="body"/>
          </p:nvPr>
        </p:nvSpPr>
        <p:spPr>
          <a:xfrm>
            <a:off x="334975" y="1585919"/>
            <a:ext cx="11522100" cy="2075100"/>
          </a:xfrm>
          <a:prstGeom prst="rect">
            <a:avLst/>
          </a:prstGeom>
        </p:spPr>
        <p:txBody>
          <a:bodyPr anchorCtr="0" anchor="t" bIns="45700" lIns="91425" spcFirstLastPara="1" rIns="91425" wrap="square" tIns="45700">
            <a:noAutofit/>
          </a:bodyPr>
          <a:lstStyle/>
          <a:p>
            <a:pPr indent="-365125" lvl="0" marL="457200" rtl="0" algn="l">
              <a:lnSpc>
                <a:spcPct val="115000"/>
              </a:lnSpc>
              <a:spcBef>
                <a:spcPts val="0"/>
              </a:spcBef>
              <a:spcAft>
                <a:spcPts val="0"/>
              </a:spcAft>
              <a:buClr>
                <a:schemeClr val="dk1"/>
              </a:buClr>
              <a:buSzPts val="2150"/>
              <a:buChar char="•"/>
            </a:pPr>
            <a:r>
              <a:rPr lang="en-US" sz="2150">
                <a:solidFill>
                  <a:schemeClr val="dk1"/>
                </a:solidFill>
                <a:highlight>
                  <a:srgbClr val="FFFFFF"/>
                </a:highlight>
              </a:rPr>
              <a:t>Two common ways to create pair RDDs</a:t>
            </a:r>
            <a:endParaRPr sz="2150">
              <a:solidFill>
                <a:schemeClr val="dk1"/>
              </a:solidFill>
              <a:highlight>
                <a:srgbClr val="FFFFFF"/>
              </a:highlight>
            </a:endParaRPr>
          </a:p>
          <a:p>
            <a:pPr indent="-365125" lvl="1" marL="914400" rtl="0" algn="l">
              <a:lnSpc>
                <a:spcPct val="115000"/>
              </a:lnSpc>
              <a:spcBef>
                <a:spcPts val="0"/>
              </a:spcBef>
              <a:spcAft>
                <a:spcPts val="0"/>
              </a:spcAft>
              <a:buClr>
                <a:schemeClr val="dk1"/>
              </a:buClr>
              <a:buSzPts val="2150"/>
              <a:buChar char="–"/>
            </a:pPr>
            <a:r>
              <a:rPr lang="en-US" sz="2150">
                <a:solidFill>
                  <a:schemeClr val="dk1"/>
                </a:solidFill>
                <a:highlight>
                  <a:srgbClr val="FFFFFF"/>
                </a:highlight>
              </a:rPr>
              <a:t>From a list of key-value tuple</a:t>
            </a:r>
            <a:endParaRPr sz="2150">
              <a:solidFill>
                <a:schemeClr val="dk1"/>
              </a:solidFill>
              <a:highlight>
                <a:srgbClr val="FFFFFF"/>
              </a:highlight>
            </a:endParaRPr>
          </a:p>
          <a:p>
            <a:pPr indent="-365125" lvl="1" marL="914400" rtl="0" algn="l">
              <a:lnSpc>
                <a:spcPct val="115000"/>
              </a:lnSpc>
              <a:spcBef>
                <a:spcPts val="0"/>
              </a:spcBef>
              <a:spcAft>
                <a:spcPts val="0"/>
              </a:spcAft>
              <a:buClr>
                <a:schemeClr val="dk1"/>
              </a:buClr>
              <a:buSzPts val="2150"/>
              <a:buChar char="–"/>
            </a:pPr>
            <a:r>
              <a:rPr lang="en-US" sz="2150">
                <a:solidFill>
                  <a:schemeClr val="dk1"/>
                </a:solidFill>
                <a:highlight>
                  <a:srgbClr val="FFFFFF"/>
                </a:highlight>
              </a:rPr>
              <a:t>From a regular RDD</a:t>
            </a:r>
            <a:endParaRPr sz="2150">
              <a:solidFill>
                <a:schemeClr val="dk1"/>
              </a:solidFill>
              <a:highlight>
                <a:srgbClr val="FFFFFF"/>
              </a:highlight>
            </a:endParaRPr>
          </a:p>
          <a:p>
            <a:pPr indent="-365125" lvl="0" marL="457200" rtl="0" algn="l">
              <a:lnSpc>
                <a:spcPct val="115000"/>
              </a:lnSpc>
              <a:spcBef>
                <a:spcPts val="0"/>
              </a:spcBef>
              <a:spcAft>
                <a:spcPts val="0"/>
              </a:spcAft>
              <a:buClr>
                <a:schemeClr val="dk1"/>
              </a:buClr>
              <a:buSzPts val="2150"/>
              <a:buChar char="•"/>
            </a:pPr>
            <a:r>
              <a:rPr lang="en-US" sz="2150">
                <a:solidFill>
                  <a:schemeClr val="dk1"/>
                </a:solidFill>
                <a:highlight>
                  <a:srgbClr val="FFFFFF"/>
                </a:highlight>
              </a:rPr>
              <a:t>Get the data into key/value form for paired RDD</a:t>
            </a:r>
            <a:endParaRPr sz="2150">
              <a:solidFill>
                <a:schemeClr val="dk1"/>
              </a:solidFill>
              <a:highlight>
                <a:srgbClr val="FFFFFF"/>
              </a:highlight>
            </a:endParaRPr>
          </a:p>
          <a:p>
            <a:pPr indent="0" lvl="0" marL="0" rtl="0" algn="l">
              <a:spcBef>
                <a:spcPts val="360"/>
              </a:spcBef>
              <a:spcAft>
                <a:spcPts val="0"/>
              </a:spcAft>
              <a:buNone/>
            </a:pPr>
            <a:r>
              <a:t/>
            </a:r>
            <a:endParaRPr/>
          </a:p>
        </p:txBody>
      </p:sp>
      <p:pic>
        <p:nvPicPr>
          <p:cNvPr id="180" name="Google Shape;180;p28"/>
          <p:cNvPicPr preferRelativeResize="0"/>
          <p:nvPr/>
        </p:nvPicPr>
        <p:blipFill>
          <a:blip r:embed="rId3">
            <a:alphaModFix/>
          </a:blip>
          <a:stretch>
            <a:fillRect/>
          </a:stretch>
        </p:blipFill>
        <p:spPr>
          <a:xfrm>
            <a:off x="1427925" y="3868994"/>
            <a:ext cx="7286625" cy="1600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Transformations on pair RDDs</a:t>
            </a:r>
            <a:endParaRPr/>
          </a:p>
        </p:txBody>
      </p:sp>
      <p:sp>
        <p:nvSpPr>
          <p:cNvPr id="186" name="Google Shape;186;p29"/>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46075" lvl="0" marL="457200" rtl="0" algn="l">
              <a:lnSpc>
                <a:spcPct val="115000"/>
              </a:lnSpc>
              <a:spcBef>
                <a:spcPts val="0"/>
              </a:spcBef>
              <a:spcAft>
                <a:spcPts val="0"/>
              </a:spcAft>
              <a:buClr>
                <a:schemeClr val="dk1"/>
              </a:buClr>
              <a:buSzPts val="1850"/>
              <a:buChar char="•"/>
            </a:pPr>
            <a:r>
              <a:rPr lang="en-US" sz="1850">
                <a:solidFill>
                  <a:schemeClr val="dk1"/>
                </a:solidFill>
                <a:highlight>
                  <a:srgbClr val="FFFFFF"/>
                </a:highlight>
              </a:rPr>
              <a:t>All regular transformations work on pair RDD</a:t>
            </a:r>
            <a:endParaRPr sz="1850">
              <a:solidFill>
                <a:schemeClr val="dk1"/>
              </a:solidFill>
              <a:highlight>
                <a:srgbClr val="FFFFFF"/>
              </a:highlight>
            </a:endParaRPr>
          </a:p>
          <a:p>
            <a:pPr indent="-346075" lvl="0" marL="457200" rtl="0" algn="l">
              <a:lnSpc>
                <a:spcPct val="115000"/>
              </a:lnSpc>
              <a:spcBef>
                <a:spcPts val="0"/>
              </a:spcBef>
              <a:spcAft>
                <a:spcPts val="0"/>
              </a:spcAft>
              <a:buClr>
                <a:schemeClr val="dk1"/>
              </a:buClr>
              <a:buSzPts val="1850"/>
              <a:buChar char="•"/>
            </a:pPr>
            <a:r>
              <a:rPr lang="en-US" sz="1850">
                <a:solidFill>
                  <a:schemeClr val="dk1"/>
                </a:solidFill>
                <a:highlight>
                  <a:srgbClr val="FFFFFF"/>
                </a:highlight>
              </a:rPr>
              <a:t>Have to pass functions that operate on key value pairs rather than on individual elements</a:t>
            </a:r>
            <a:endParaRPr sz="1850">
              <a:solidFill>
                <a:schemeClr val="dk1"/>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US" sz="1950">
                <a:solidFill>
                  <a:schemeClr val="dk1"/>
                </a:solidFill>
                <a:highlight>
                  <a:srgbClr val="FFFFFF"/>
                </a:highlight>
              </a:rPr>
              <a:t>Examples of paired RDD Transformations</a:t>
            </a:r>
            <a:endParaRPr b="1" sz="1950">
              <a:solidFill>
                <a:schemeClr val="dk1"/>
              </a:solidFill>
              <a:highlight>
                <a:srgbClr val="FFFFFF"/>
              </a:highlight>
            </a:endParaRPr>
          </a:p>
          <a:p>
            <a:pPr indent="-346075" lvl="0" marL="914400" rtl="0" algn="l">
              <a:lnSpc>
                <a:spcPct val="115000"/>
              </a:lnSpc>
              <a:spcBef>
                <a:spcPts val="0"/>
              </a:spcBef>
              <a:spcAft>
                <a:spcPts val="0"/>
              </a:spcAft>
              <a:buClr>
                <a:schemeClr val="dk1"/>
              </a:buClr>
              <a:buSzPts val="1850"/>
              <a:buChar char="•"/>
            </a:pPr>
            <a:r>
              <a:rPr lang="en-US" sz="1850">
                <a:solidFill>
                  <a:schemeClr val="dk1"/>
                </a:solidFill>
                <a:highlight>
                  <a:srgbClr val="FFFFFF"/>
                </a:highlight>
              </a:rPr>
              <a:t>reduceByKey(func): Combine values with the same key</a:t>
            </a:r>
            <a:endParaRPr sz="1850">
              <a:solidFill>
                <a:schemeClr val="dk1"/>
              </a:solidFill>
              <a:highlight>
                <a:srgbClr val="FFFFFF"/>
              </a:highlight>
            </a:endParaRPr>
          </a:p>
          <a:p>
            <a:pPr indent="-346075" lvl="0" marL="914400" rtl="0" algn="l">
              <a:lnSpc>
                <a:spcPct val="115000"/>
              </a:lnSpc>
              <a:spcBef>
                <a:spcPts val="0"/>
              </a:spcBef>
              <a:spcAft>
                <a:spcPts val="0"/>
              </a:spcAft>
              <a:buClr>
                <a:schemeClr val="dk1"/>
              </a:buClr>
              <a:buSzPts val="1850"/>
              <a:buChar char="•"/>
            </a:pPr>
            <a:r>
              <a:rPr lang="en-US" sz="1850">
                <a:solidFill>
                  <a:schemeClr val="dk1"/>
                </a:solidFill>
                <a:highlight>
                  <a:srgbClr val="FFFFFF"/>
                </a:highlight>
              </a:rPr>
              <a:t>groupByKey(): Group values with the same key</a:t>
            </a:r>
            <a:endParaRPr sz="1850">
              <a:solidFill>
                <a:schemeClr val="dk1"/>
              </a:solidFill>
              <a:highlight>
                <a:srgbClr val="FFFFFF"/>
              </a:highlight>
            </a:endParaRPr>
          </a:p>
          <a:p>
            <a:pPr indent="-346075" lvl="0" marL="914400" rtl="0" algn="l">
              <a:lnSpc>
                <a:spcPct val="115000"/>
              </a:lnSpc>
              <a:spcBef>
                <a:spcPts val="0"/>
              </a:spcBef>
              <a:spcAft>
                <a:spcPts val="0"/>
              </a:spcAft>
              <a:buClr>
                <a:schemeClr val="dk1"/>
              </a:buClr>
              <a:buSzPts val="1850"/>
              <a:buChar char="•"/>
            </a:pPr>
            <a:r>
              <a:rPr lang="en-US" sz="1850">
                <a:solidFill>
                  <a:schemeClr val="dk1"/>
                </a:solidFill>
                <a:highlight>
                  <a:srgbClr val="FFFFFF"/>
                </a:highlight>
              </a:rPr>
              <a:t>sortByKey(): Return an RDD sorted by the key</a:t>
            </a:r>
            <a:endParaRPr sz="1850">
              <a:solidFill>
                <a:schemeClr val="dk1"/>
              </a:solidFill>
              <a:highlight>
                <a:srgbClr val="FFFFFF"/>
              </a:highlight>
            </a:endParaRPr>
          </a:p>
          <a:p>
            <a:pPr indent="-346075" lvl="0" marL="914400" rtl="0" algn="l">
              <a:lnSpc>
                <a:spcPct val="115000"/>
              </a:lnSpc>
              <a:spcBef>
                <a:spcPts val="0"/>
              </a:spcBef>
              <a:spcAft>
                <a:spcPts val="0"/>
              </a:spcAft>
              <a:buClr>
                <a:schemeClr val="dk1"/>
              </a:buClr>
              <a:buSzPts val="1850"/>
              <a:buChar char="•"/>
            </a:pPr>
            <a:r>
              <a:rPr lang="en-US" sz="1850">
                <a:solidFill>
                  <a:schemeClr val="dk1"/>
                </a:solidFill>
                <a:highlight>
                  <a:srgbClr val="FFFFFF"/>
                </a:highlight>
              </a:rPr>
              <a:t>join(): Join two pair RDDs based on their key</a:t>
            </a:r>
            <a:endParaRPr sz="18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2350">
                <a:solidFill>
                  <a:schemeClr val="dk1"/>
                </a:solidFill>
                <a:highlight>
                  <a:srgbClr val="FFFFFF"/>
                </a:highlight>
              </a:rPr>
              <a:t>reduceByKey() transformation</a:t>
            </a:r>
            <a:endParaRPr/>
          </a:p>
        </p:txBody>
      </p:sp>
      <p:sp>
        <p:nvSpPr>
          <p:cNvPr id="192" name="Google Shape;192;p30"/>
          <p:cNvSpPr txBox="1"/>
          <p:nvPr>
            <p:ph idx="1" type="body"/>
          </p:nvPr>
        </p:nvSpPr>
        <p:spPr>
          <a:xfrm>
            <a:off x="334975" y="1585918"/>
            <a:ext cx="11522100" cy="1677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2350">
              <a:solidFill>
                <a:schemeClr val="dk1"/>
              </a:solidFill>
              <a:highlight>
                <a:srgbClr val="FFFFFF"/>
              </a:highlight>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sz="1550">
                <a:solidFill>
                  <a:schemeClr val="dk1"/>
                </a:solidFill>
                <a:highlight>
                  <a:srgbClr val="FFFFFF"/>
                </a:highlight>
              </a:rPr>
              <a:t>reduceByKey() </a:t>
            </a:r>
            <a:r>
              <a:rPr lang="en-US" sz="1750">
                <a:solidFill>
                  <a:schemeClr val="dk1"/>
                </a:solidFill>
                <a:highlight>
                  <a:srgbClr val="FFFFFF"/>
                </a:highlight>
              </a:rPr>
              <a:t>transformation combines values with the same key</a:t>
            </a:r>
            <a:endParaRPr sz="1750">
              <a:solidFill>
                <a:schemeClr val="dk1"/>
              </a:solidFill>
              <a:highlight>
                <a:srgbClr val="FFFFFF"/>
              </a:highlight>
            </a:endParaRPr>
          </a:p>
          <a:p>
            <a:pPr indent="-339725" lvl="0" marL="457200" rtl="0" algn="l">
              <a:lnSpc>
                <a:spcPct val="115000"/>
              </a:lnSpc>
              <a:spcBef>
                <a:spcPts val="0"/>
              </a:spcBef>
              <a:spcAft>
                <a:spcPts val="0"/>
              </a:spcAft>
              <a:buClr>
                <a:schemeClr val="dk1"/>
              </a:buClr>
              <a:buSzPts val="1750"/>
              <a:buChar char="•"/>
            </a:pPr>
            <a:r>
              <a:rPr lang="en-US" sz="1750">
                <a:solidFill>
                  <a:schemeClr val="dk1"/>
                </a:solidFill>
                <a:highlight>
                  <a:srgbClr val="FFFFFF"/>
                </a:highlight>
              </a:rPr>
              <a:t>It runs parallel operations for each key in the dataset</a:t>
            </a:r>
            <a:endParaRPr sz="1750">
              <a:solidFill>
                <a:schemeClr val="dk1"/>
              </a:solidFill>
              <a:highlight>
                <a:srgbClr val="FFFFFF"/>
              </a:highlight>
            </a:endParaRPr>
          </a:p>
          <a:p>
            <a:pPr indent="-339725" lvl="0" marL="457200" rtl="0" algn="l">
              <a:lnSpc>
                <a:spcPct val="115000"/>
              </a:lnSpc>
              <a:spcBef>
                <a:spcPts val="0"/>
              </a:spcBef>
              <a:spcAft>
                <a:spcPts val="0"/>
              </a:spcAft>
              <a:buClr>
                <a:schemeClr val="dk1"/>
              </a:buClr>
              <a:buSzPts val="1750"/>
              <a:buChar char="•"/>
            </a:pPr>
            <a:r>
              <a:rPr lang="en-US" sz="1750">
                <a:solidFill>
                  <a:schemeClr val="dk1"/>
                </a:solidFill>
                <a:highlight>
                  <a:srgbClr val="FFFFFF"/>
                </a:highlight>
              </a:rPr>
              <a:t>It is a transformation and not action</a:t>
            </a:r>
            <a:endParaRPr sz="1750">
              <a:solidFill>
                <a:schemeClr val="dk1"/>
              </a:solidFill>
              <a:highlight>
                <a:srgbClr val="FFFFFF"/>
              </a:highlight>
            </a:endParaRPr>
          </a:p>
          <a:p>
            <a:pPr indent="0" lvl="0" marL="0" rtl="0" algn="l">
              <a:spcBef>
                <a:spcPts val="360"/>
              </a:spcBef>
              <a:spcAft>
                <a:spcPts val="0"/>
              </a:spcAft>
              <a:buNone/>
            </a:pPr>
            <a:r>
              <a:t/>
            </a:r>
            <a:endParaRPr/>
          </a:p>
        </p:txBody>
      </p:sp>
      <p:pic>
        <p:nvPicPr>
          <p:cNvPr id="193" name="Google Shape;193;p30"/>
          <p:cNvPicPr preferRelativeResize="0"/>
          <p:nvPr/>
        </p:nvPicPr>
        <p:blipFill>
          <a:blip r:embed="rId3">
            <a:alphaModFix/>
          </a:blip>
          <a:stretch>
            <a:fillRect/>
          </a:stretch>
        </p:blipFill>
        <p:spPr>
          <a:xfrm>
            <a:off x="897850" y="3630968"/>
            <a:ext cx="7181850" cy="1343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2350">
                <a:solidFill>
                  <a:schemeClr val="dk1"/>
                </a:solidFill>
                <a:highlight>
                  <a:srgbClr val="FFFFFF"/>
                </a:highlight>
                <a:latin typeface="Helvetica Neue"/>
                <a:ea typeface="Helvetica Neue"/>
                <a:cs typeface="Helvetica Neue"/>
                <a:sym typeface="Helvetica Neue"/>
              </a:rPr>
              <a:t>sortByKey() transformation</a:t>
            </a:r>
            <a:endParaRPr>
              <a:latin typeface="Helvetica Neue"/>
              <a:ea typeface="Helvetica Neue"/>
              <a:cs typeface="Helvetica Neue"/>
              <a:sym typeface="Helvetica Neue"/>
            </a:endParaRPr>
          </a:p>
        </p:txBody>
      </p:sp>
      <p:sp>
        <p:nvSpPr>
          <p:cNvPr id="199" name="Google Shape;199;p31"/>
          <p:cNvSpPr txBox="1"/>
          <p:nvPr>
            <p:ph idx="1" type="body"/>
          </p:nvPr>
        </p:nvSpPr>
        <p:spPr>
          <a:xfrm>
            <a:off x="334975" y="1585918"/>
            <a:ext cx="11522100" cy="15615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2350">
              <a:solidFill>
                <a:schemeClr val="dk1"/>
              </a:solidFill>
              <a:highlight>
                <a:srgbClr val="FFFFFF"/>
              </a:highlight>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sz="1750">
                <a:solidFill>
                  <a:schemeClr val="dk1"/>
                </a:solidFill>
                <a:highlight>
                  <a:srgbClr val="FFFFFF"/>
                </a:highlight>
              </a:rPr>
              <a:t>sortByKey() </a:t>
            </a:r>
            <a:r>
              <a:rPr lang="en-US" sz="1950">
                <a:solidFill>
                  <a:schemeClr val="dk1"/>
                </a:solidFill>
                <a:highlight>
                  <a:srgbClr val="FFFFFF"/>
                </a:highlight>
              </a:rPr>
              <a:t>operation orders pair RDD by key</a:t>
            </a:r>
            <a:endParaRPr sz="1950">
              <a:solidFill>
                <a:schemeClr val="dk1"/>
              </a:solidFill>
              <a:highlight>
                <a:srgbClr val="FFFFFF"/>
              </a:highlight>
            </a:endParaRPr>
          </a:p>
          <a:p>
            <a:pPr indent="-352425" lvl="0" marL="457200" rtl="0" algn="l">
              <a:lnSpc>
                <a:spcPct val="115000"/>
              </a:lnSpc>
              <a:spcBef>
                <a:spcPts val="0"/>
              </a:spcBef>
              <a:spcAft>
                <a:spcPts val="0"/>
              </a:spcAft>
              <a:buClr>
                <a:schemeClr val="dk1"/>
              </a:buClr>
              <a:buSzPts val="1950"/>
              <a:buChar char="•"/>
            </a:pPr>
            <a:r>
              <a:rPr lang="en-US" sz="1950">
                <a:solidFill>
                  <a:schemeClr val="dk1"/>
                </a:solidFill>
                <a:highlight>
                  <a:srgbClr val="FFFFFF"/>
                </a:highlight>
              </a:rPr>
              <a:t>It returns an RDD sorted by key in ascending or descending order</a:t>
            </a:r>
            <a:endParaRPr sz="1950">
              <a:solidFill>
                <a:schemeClr val="dk1"/>
              </a:solidFill>
              <a:highlight>
                <a:srgbClr val="FFFFFF"/>
              </a:highlight>
            </a:endParaRPr>
          </a:p>
          <a:p>
            <a:pPr indent="0" lvl="0" marL="0" rtl="0" algn="l">
              <a:spcBef>
                <a:spcPts val="360"/>
              </a:spcBef>
              <a:spcAft>
                <a:spcPts val="0"/>
              </a:spcAft>
              <a:buNone/>
            </a:pPr>
            <a:r>
              <a:t/>
            </a:r>
            <a:endParaRPr/>
          </a:p>
        </p:txBody>
      </p:sp>
      <p:pic>
        <p:nvPicPr>
          <p:cNvPr id="200" name="Google Shape;200;p31"/>
          <p:cNvPicPr preferRelativeResize="0"/>
          <p:nvPr/>
        </p:nvPicPr>
        <p:blipFill>
          <a:blip r:embed="rId3">
            <a:alphaModFix/>
          </a:blip>
          <a:stretch>
            <a:fillRect/>
          </a:stretch>
        </p:blipFill>
        <p:spPr>
          <a:xfrm>
            <a:off x="1113175" y="3355400"/>
            <a:ext cx="7749225" cy="1332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groupByKey() transformation</a:t>
            </a:r>
            <a:endParaRPr/>
          </a:p>
        </p:txBody>
      </p:sp>
      <p:pic>
        <p:nvPicPr>
          <p:cNvPr id="206" name="Google Shape;206;p32"/>
          <p:cNvPicPr preferRelativeResize="0"/>
          <p:nvPr/>
        </p:nvPicPr>
        <p:blipFill>
          <a:blip r:embed="rId3">
            <a:alphaModFix/>
          </a:blip>
          <a:stretch>
            <a:fillRect/>
          </a:stretch>
        </p:blipFill>
        <p:spPr>
          <a:xfrm>
            <a:off x="1143000" y="1911350"/>
            <a:ext cx="8237449" cy="3356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join() transformation</a:t>
            </a:r>
            <a:endParaRPr/>
          </a:p>
        </p:txBody>
      </p:sp>
      <p:pic>
        <p:nvPicPr>
          <p:cNvPr id="212" name="Google Shape;212;p33"/>
          <p:cNvPicPr preferRelativeResize="0"/>
          <p:nvPr/>
        </p:nvPicPr>
        <p:blipFill>
          <a:blip r:embed="rId3">
            <a:alphaModFix/>
          </a:blip>
          <a:stretch>
            <a:fillRect/>
          </a:stretch>
        </p:blipFill>
        <p:spPr>
          <a:xfrm>
            <a:off x="930975" y="2043875"/>
            <a:ext cx="10245000" cy="2561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reduce() action</a:t>
            </a:r>
            <a:endParaRPr/>
          </a:p>
        </p:txBody>
      </p:sp>
      <p:sp>
        <p:nvSpPr>
          <p:cNvPr id="218" name="Google Shape;218;p34"/>
          <p:cNvSpPr txBox="1"/>
          <p:nvPr>
            <p:ph idx="1" type="body"/>
          </p:nvPr>
        </p:nvSpPr>
        <p:spPr>
          <a:xfrm>
            <a:off x="334975" y="1585918"/>
            <a:ext cx="11522100" cy="17106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US"/>
              <a:t>reduce(func) action is used for aggregating the elements of a regular RDD</a:t>
            </a:r>
            <a:endParaRPr/>
          </a:p>
          <a:p>
            <a:pPr indent="-342900" lvl="0" marL="457200" rtl="0" algn="l">
              <a:spcBef>
                <a:spcPts val="0"/>
              </a:spcBef>
              <a:spcAft>
                <a:spcPts val="0"/>
              </a:spcAft>
              <a:buSzPts val="1800"/>
              <a:buChar char="•"/>
            </a:pPr>
            <a:r>
              <a:rPr lang="en-US"/>
              <a:t>The function should be commutative (changing the order of the operands does not changethe result) and associative</a:t>
            </a:r>
            <a:endParaRPr/>
          </a:p>
          <a:p>
            <a:pPr indent="-342900" lvl="0" marL="457200" rtl="0" algn="l">
              <a:spcBef>
                <a:spcPts val="0"/>
              </a:spcBef>
              <a:spcAft>
                <a:spcPts val="0"/>
              </a:spcAft>
              <a:buSzPts val="1800"/>
              <a:buChar char="•"/>
            </a:pPr>
            <a:r>
              <a:rPr lang="en-US"/>
              <a:t>An example of reduce() action in PySpark</a:t>
            </a:r>
            <a:endParaRPr/>
          </a:p>
        </p:txBody>
      </p:sp>
      <p:pic>
        <p:nvPicPr>
          <p:cNvPr id="219" name="Google Shape;219;p34"/>
          <p:cNvPicPr preferRelativeResize="0"/>
          <p:nvPr/>
        </p:nvPicPr>
        <p:blipFill>
          <a:blip r:embed="rId3">
            <a:alphaModFix/>
          </a:blip>
          <a:stretch>
            <a:fillRect/>
          </a:stretch>
        </p:blipFill>
        <p:spPr>
          <a:xfrm>
            <a:off x="1411375" y="3504493"/>
            <a:ext cx="7543800" cy="1438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saveAsTextFile() action</a:t>
            </a:r>
            <a:endParaRPr/>
          </a:p>
        </p:txBody>
      </p:sp>
      <p:pic>
        <p:nvPicPr>
          <p:cNvPr id="225" name="Google Shape;225;p35"/>
          <p:cNvPicPr preferRelativeResize="0"/>
          <p:nvPr/>
        </p:nvPicPr>
        <p:blipFill>
          <a:blip r:embed="rId3">
            <a:alphaModFix/>
          </a:blip>
          <a:stretch>
            <a:fillRect/>
          </a:stretch>
        </p:blipFill>
        <p:spPr>
          <a:xfrm>
            <a:off x="927650" y="2352250"/>
            <a:ext cx="8005124" cy="2700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Action Operations on pair RDDs</a:t>
            </a:r>
            <a:endParaRPr/>
          </a:p>
        </p:txBody>
      </p:sp>
      <p:sp>
        <p:nvSpPr>
          <p:cNvPr id="231" name="Google Shape;231;p36"/>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58775" lvl="0" marL="457200" rtl="0" algn="l">
              <a:spcBef>
                <a:spcPts val="100"/>
              </a:spcBef>
              <a:spcAft>
                <a:spcPts val="0"/>
              </a:spcAft>
              <a:buClr>
                <a:schemeClr val="dk1"/>
              </a:buClr>
              <a:buSzPts val="2050"/>
              <a:buChar char="•"/>
            </a:pPr>
            <a:r>
              <a:rPr lang="en-US" sz="2050">
                <a:solidFill>
                  <a:schemeClr val="dk1"/>
                </a:solidFill>
                <a:highlight>
                  <a:srgbClr val="FFFFFF"/>
                </a:highlight>
              </a:rPr>
              <a:t>RDD actions available for PySpark pair RDDs</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Pair RDD actions leverage the key-value data</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Few examples of pair RDD actions include</a:t>
            </a:r>
            <a:endParaRPr sz="2050">
              <a:solidFill>
                <a:schemeClr val="dk1"/>
              </a:solidFill>
              <a:highlight>
                <a:srgbClr val="FFFFFF"/>
              </a:highlight>
            </a:endParaRPr>
          </a:p>
          <a:p>
            <a:pPr indent="-358775" lvl="1" marL="914400" rtl="0" algn="l">
              <a:spcBef>
                <a:spcPts val="0"/>
              </a:spcBef>
              <a:spcAft>
                <a:spcPts val="0"/>
              </a:spcAft>
              <a:buClr>
                <a:schemeClr val="dk1"/>
              </a:buClr>
              <a:buSzPts val="2050"/>
              <a:buChar char="–"/>
            </a:pPr>
            <a:r>
              <a:rPr lang="en-US" sz="2050">
                <a:solidFill>
                  <a:schemeClr val="dk1"/>
                </a:solidFill>
                <a:highlight>
                  <a:srgbClr val="FFFFFF"/>
                </a:highlight>
              </a:rPr>
              <a:t>countByKey()</a:t>
            </a:r>
            <a:endParaRPr sz="2050">
              <a:solidFill>
                <a:schemeClr val="dk1"/>
              </a:solidFill>
              <a:highlight>
                <a:srgbClr val="FFFFFF"/>
              </a:highlight>
            </a:endParaRPr>
          </a:p>
          <a:p>
            <a:pPr indent="-358775" lvl="1" marL="914400" rtl="0" algn="l">
              <a:spcBef>
                <a:spcPts val="0"/>
              </a:spcBef>
              <a:spcAft>
                <a:spcPts val="0"/>
              </a:spcAft>
              <a:buClr>
                <a:schemeClr val="dk1"/>
              </a:buClr>
              <a:buSzPts val="2050"/>
              <a:buChar char="–"/>
            </a:pPr>
            <a:r>
              <a:rPr lang="en-US" sz="2050">
                <a:solidFill>
                  <a:schemeClr val="dk1"/>
                </a:solidFill>
                <a:highlight>
                  <a:srgbClr val="FFFFFF"/>
                </a:highlight>
              </a:rPr>
              <a:t>collectAsMap()</a:t>
            </a:r>
            <a:endParaRPr sz="2050">
              <a:solidFill>
                <a:schemeClr val="dk1"/>
              </a:solidFill>
              <a:highlight>
                <a:srgbClr val="FFFFFF"/>
              </a:highlight>
            </a:endParaRPr>
          </a:p>
          <a:p>
            <a:pPr indent="0" lvl="0" marL="0" rtl="0" algn="l">
              <a:spcBef>
                <a:spcPts val="360"/>
              </a:spcBef>
              <a:spcAft>
                <a:spcPts val="0"/>
              </a:spcAft>
              <a:buNone/>
            </a:pPr>
            <a:r>
              <a:t/>
            </a:r>
            <a:endParaRPr sz="2350">
              <a:solidFill>
                <a:schemeClr val="dk1"/>
              </a:solidFill>
              <a:highlight>
                <a:srgbClr val="FFFFFF"/>
              </a:highlight>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countByKey() action</a:t>
            </a:r>
            <a:endParaRPr/>
          </a:p>
        </p:txBody>
      </p:sp>
      <p:sp>
        <p:nvSpPr>
          <p:cNvPr id="237" name="Google Shape;237;p37"/>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65125" lvl="0" marL="457200" rtl="0" algn="l">
              <a:spcBef>
                <a:spcPts val="360"/>
              </a:spcBef>
              <a:spcAft>
                <a:spcPts val="0"/>
              </a:spcAft>
              <a:buClr>
                <a:schemeClr val="dk1"/>
              </a:buClr>
              <a:buSzPts val="2150"/>
              <a:buChar char="•"/>
            </a:pPr>
            <a:r>
              <a:rPr lang="en-US" sz="2150">
                <a:solidFill>
                  <a:schemeClr val="dk1"/>
                </a:solidFill>
                <a:highlight>
                  <a:srgbClr val="FFFFFF"/>
                </a:highlight>
              </a:rPr>
              <a:t>collectAsMap() return the key-value pairs in the RDD as a dictionary</a:t>
            </a:r>
            <a:endParaRPr sz="2150">
              <a:solidFill>
                <a:schemeClr val="dk1"/>
              </a:solidFill>
              <a:highlight>
                <a:srgbClr val="FFFFFF"/>
              </a:highlight>
            </a:endParaRPr>
          </a:p>
          <a:p>
            <a:pPr indent="-365125" lvl="0" marL="457200" rtl="0" algn="l">
              <a:spcBef>
                <a:spcPts val="0"/>
              </a:spcBef>
              <a:spcAft>
                <a:spcPts val="0"/>
              </a:spcAft>
              <a:buClr>
                <a:schemeClr val="dk1"/>
              </a:buClr>
              <a:buSzPts val="2150"/>
              <a:buChar char="•"/>
            </a:pPr>
            <a:r>
              <a:rPr lang="en-US" sz="2150">
                <a:solidFill>
                  <a:schemeClr val="dk1"/>
                </a:solidFill>
                <a:highlight>
                  <a:srgbClr val="FFFFFF"/>
                </a:highlight>
              </a:rPr>
              <a:t>Example of collectAsMap() on a simple tuple</a:t>
            </a:r>
            <a:endParaRPr sz="1600"/>
          </a:p>
        </p:txBody>
      </p:sp>
      <p:pic>
        <p:nvPicPr>
          <p:cNvPr id="238" name="Google Shape;238;p37"/>
          <p:cNvPicPr preferRelativeResize="0"/>
          <p:nvPr/>
        </p:nvPicPr>
        <p:blipFill>
          <a:blip r:embed="rId3">
            <a:alphaModFix/>
          </a:blip>
          <a:stretch>
            <a:fillRect/>
          </a:stretch>
        </p:blipFill>
        <p:spPr>
          <a:xfrm>
            <a:off x="649350" y="2771975"/>
            <a:ext cx="7848599" cy="1143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8"/>
          <p:cNvPicPr preferRelativeResize="0"/>
          <p:nvPr/>
        </p:nvPicPr>
        <p:blipFill>
          <a:blip r:embed="rId3">
            <a:alphaModFix/>
          </a:blip>
          <a:stretch>
            <a:fillRect/>
          </a:stretch>
        </p:blipFill>
        <p:spPr>
          <a:xfrm>
            <a:off x="440225" y="1027025"/>
            <a:ext cx="8306200" cy="41398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SparkSession - Entry point for DataFrame API</a:t>
            </a:r>
            <a:endParaRPr/>
          </a:p>
        </p:txBody>
      </p:sp>
      <p:sp>
        <p:nvSpPr>
          <p:cNvPr id="249" name="Google Shape;249;p39"/>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58775" lvl="0" marL="457200" rtl="0" algn="l">
              <a:spcBef>
                <a:spcPts val="100"/>
              </a:spcBef>
              <a:spcAft>
                <a:spcPts val="0"/>
              </a:spcAft>
              <a:buClr>
                <a:schemeClr val="dk1"/>
              </a:buClr>
              <a:buSzPts val="2050"/>
              <a:buChar char="•"/>
            </a:pPr>
            <a:r>
              <a:rPr lang="en-US" sz="2050">
                <a:solidFill>
                  <a:schemeClr val="dk1"/>
                </a:solidFill>
                <a:highlight>
                  <a:srgbClr val="FFFFFF"/>
                </a:highlight>
              </a:rPr>
              <a:t>SparkContext is the main entry point for creating RDDs</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SparkSession provides a single point of entry to interact with Spark DataFrames</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SparkSession is used to create DataFrame, register DataFrames, execute SQL queries</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SparkSession is available in PySpark shell as </a:t>
            </a:r>
            <a:r>
              <a:rPr lang="en-US" sz="1850">
                <a:solidFill>
                  <a:schemeClr val="dk1"/>
                </a:solidFill>
                <a:highlight>
                  <a:srgbClr val="FFFFFF"/>
                </a:highlight>
              </a:rPr>
              <a:t>spark</a:t>
            </a:r>
            <a:endParaRPr sz="18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Creating DataFrames in PySpark</a:t>
            </a:r>
            <a:endParaRPr/>
          </a:p>
        </p:txBody>
      </p:sp>
      <p:sp>
        <p:nvSpPr>
          <p:cNvPr id="255" name="Google Shape;255;p40"/>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58775" lvl="0" marL="457200" rtl="0" algn="l">
              <a:spcBef>
                <a:spcPts val="100"/>
              </a:spcBef>
              <a:spcAft>
                <a:spcPts val="0"/>
              </a:spcAft>
              <a:buClr>
                <a:schemeClr val="dk1"/>
              </a:buClr>
              <a:buSzPts val="2050"/>
              <a:buChar char="•"/>
            </a:pPr>
            <a:r>
              <a:rPr lang="en-US" sz="2050">
                <a:solidFill>
                  <a:schemeClr val="dk1"/>
                </a:solidFill>
                <a:highlight>
                  <a:srgbClr val="FFFFFF"/>
                </a:highlight>
              </a:rPr>
              <a:t>Two different methods of creating DataFrames in PySpark</a:t>
            </a:r>
            <a:endParaRPr sz="2050">
              <a:solidFill>
                <a:schemeClr val="dk1"/>
              </a:solidFill>
              <a:highlight>
                <a:srgbClr val="FFFFFF"/>
              </a:highlight>
            </a:endParaRPr>
          </a:p>
          <a:p>
            <a:pPr indent="-358775" lvl="1" marL="914400" rtl="0" algn="l">
              <a:spcBef>
                <a:spcPts val="0"/>
              </a:spcBef>
              <a:spcAft>
                <a:spcPts val="0"/>
              </a:spcAft>
              <a:buClr>
                <a:schemeClr val="dk1"/>
              </a:buClr>
              <a:buSzPts val="2050"/>
              <a:buChar char="–"/>
            </a:pPr>
            <a:r>
              <a:rPr lang="en-US" sz="2050">
                <a:solidFill>
                  <a:schemeClr val="dk1"/>
                </a:solidFill>
                <a:highlight>
                  <a:srgbClr val="FFFFFF"/>
                </a:highlight>
              </a:rPr>
              <a:t>From existing RDDs using SparkSession's createDataFrame() method</a:t>
            </a:r>
            <a:endParaRPr sz="2050">
              <a:solidFill>
                <a:schemeClr val="dk1"/>
              </a:solidFill>
              <a:highlight>
                <a:srgbClr val="FFFFFF"/>
              </a:highlight>
            </a:endParaRPr>
          </a:p>
          <a:p>
            <a:pPr indent="-358775" lvl="1" marL="914400" rtl="0" algn="l">
              <a:spcBef>
                <a:spcPts val="0"/>
              </a:spcBef>
              <a:spcAft>
                <a:spcPts val="0"/>
              </a:spcAft>
              <a:buClr>
                <a:schemeClr val="dk1"/>
              </a:buClr>
              <a:buSzPts val="2050"/>
              <a:buChar char="–"/>
            </a:pPr>
            <a:r>
              <a:rPr lang="en-US" sz="2050">
                <a:solidFill>
                  <a:schemeClr val="dk1"/>
                </a:solidFill>
                <a:highlight>
                  <a:srgbClr val="FFFFFF"/>
                </a:highlight>
              </a:rPr>
              <a:t>From various data sources (CSV, JSON, TXT) using SparkSession's read method</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Schema controls the data and helps DataFrames to optimize queries</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Schema provides information about column name, type of data in the column, empty values</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etc.,</a:t>
            </a:r>
            <a:endParaRPr sz="20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Create a DataFrame from RDD</a:t>
            </a:r>
            <a:endParaRPr/>
          </a:p>
        </p:txBody>
      </p:sp>
      <p:pic>
        <p:nvPicPr>
          <p:cNvPr id="261" name="Google Shape;261;p41"/>
          <p:cNvPicPr preferRelativeResize="0"/>
          <p:nvPr/>
        </p:nvPicPr>
        <p:blipFill>
          <a:blip r:embed="rId3">
            <a:alphaModFix/>
          </a:blip>
          <a:stretch>
            <a:fillRect/>
          </a:stretch>
        </p:blipFill>
        <p:spPr>
          <a:xfrm>
            <a:off x="1577000" y="1952626"/>
            <a:ext cx="7629525" cy="2952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350">
                <a:solidFill>
                  <a:schemeClr val="dk1"/>
                </a:solidFill>
                <a:highlight>
                  <a:srgbClr val="FFFFFF"/>
                </a:highlight>
                <a:latin typeface="Helvetica Neue"/>
                <a:ea typeface="Helvetica Neue"/>
                <a:cs typeface="Helvetica Neue"/>
                <a:sym typeface="Helvetica Neue"/>
              </a:rPr>
              <a:t>Create a DataFrame from reading a CSV/JSON/TXT</a:t>
            </a:r>
            <a:endParaRPr>
              <a:latin typeface="Helvetica Neue"/>
              <a:ea typeface="Helvetica Neue"/>
              <a:cs typeface="Helvetica Neue"/>
              <a:sym typeface="Helvetica Neue"/>
            </a:endParaRPr>
          </a:p>
        </p:txBody>
      </p:sp>
      <p:sp>
        <p:nvSpPr>
          <p:cNvPr id="267" name="Google Shape;267;p42"/>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268" name="Google Shape;268;p42"/>
          <p:cNvPicPr preferRelativeResize="0"/>
          <p:nvPr/>
        </p:nvPicPr>
        <p:blipFill rotWithShape="1">
          <a:blip r:embed="rId3">
            <a:alphaModFix/>
          </a:blip>
          <a:srcRect b="0" l="-5516" r="-8223" t="0"/>
          <a:stretch/>
        </p:blipFill>
        <p:spPr>
          <a:xfrm>
            <a:off x="2281238" y="1952625"/>
            <a:ext cx="7629524" cy="2952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 operators in PySpark</a:t>
            </a:r>
            <a:endParaRPr/>
          </a:p>
        </p:txBody>
      </p:sp>
      <p:pic>
        <p:nvPicPr>
          <p:cNvPr id="274" name="Google Shape;274;p43"/>
          <p:cNvPicPr preferRelativeResize="0"/>
          <p:nvPr/>
        </p:nvPicPr>
        <p:blipFill>
          <a:blip r:embed="rId3">
            <a:alphaModFix/>
          </a:blip>
          <a:stretch>
            <a:fillRect/>
          </a:stretch>
        </p:blipFill>
        <p:spPr>
          <a:xfrm>
            <a:off x="1129750" y="2209526"/>
            <a:ext cx="7724775" cy="2209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 operators in PySpark</a:t>
            </a:r>
            <a:endParaRPr/>
          </a:p>
        </p:txBody>
      </p:sp>
      <p:pic>
        <p:nvPicPr>
          <p:cNvPr id="280" name="Google Shape;280;p44"/>
          <p:cNvPicPr preferRelativeResize="0"/>
          <p:nvPr/>
        </p:nvPicPr>
        <p:blipFill>
          <a:blip r:embed="rId3">
            <a:alphaModFix/>
          </a:blip>
          <a:stretch>
            <a:fillRect/>
          </a:stretch>
        </p:blipFill>
        <p:spPr>
          <a:xfrm>
            <a:off x="1146300" y="1824038"/>
            <a:ext cx="7724775" cy="3209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5"/>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filter() and show() operations</a:t>
            </a:r>
            <a:endParaRPr/>
          </a:p>
        </p:txBody>
      </p:sp>
      <p:pic>
        <p:nvPicPr>
          <p:cNvPr id="286" name="Google Shape;286;p45"/>
          <p:cNvPicPr preferRelativeResize="0"/>
          <p:nvPr/>
        </p:nvPicPr>
        <p:blipFill>
          <a:blip r:embed="rId3">
            <a:alphaModFix/>
          </a:blip>
          <a:stretch>
            <a:fillRect/>
          </a:stretch>
        </p:blipFill>
        <p:spPr>
          <a:xfrm>
            <a:off x="1644313" y="1990725"/>
            <a:ext cx="7743825" cy="2876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6"/>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groupby() and count() operations</a:t>
            </a:r>
            <a:endParaRPr/>
          </a:p>
        </p:txBody>
      </p:sp>
      <p:pic>
        <p:nvPicPr>
          <p:cNvPr id="292" name="Google Shape;292;p46"/>
          <p:cNvPicPr preferRelativeResize="0"/>
          <p:nvPr/>
        </p:nvPicPr>
        <p:blipFill>
          <a:blip r:embed="rId3">
            <a:alphaModFix/>
          </a:blip>
          <a:stretch>
            <a:fillRect/>
          </a:stretch>
        </p:blipFill>
        <p:spPr>
          <a:xfrm>
            <a:off x="1755925" y="1857375"/>
            <a:ext cx="8845824" cy="35760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orderby() Transformations</a:t>
            </a:r>
            <a:endParaRPr/>
          </a:p>
        </p:txBody>
      </p:sp>
      <p:pic>
        <p:nvPicPr>
          <p:cNvPr id="298" name="Google Shape;298;p47"/>
          <p:cNvPicPr preferRelativeResize="0"/>
          <p:nvPr/>
        </p:nvPicPr>
        <p:blipFill>
          <a:blip r:embed="rId3">
            <a:alphaModFix/>
          </a:blip>
          <a:stretch>
            <a:fillRect/>
          </a:stretch>
        </p:blipFill>
        <p:spPr>
          <a:xfrm>
            <a:off x="1063500" y="1804988"/>
            <a:ext cx="7800975" cy="3248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8"/>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dropDuplicates()</a:t>
            </a:r>
            <a:endParaRPr/>
          </a:p>
        </p:txBody>
      </p:sp>
      <p:pic>
        <p:nvPicPr>
          <p:cNvPr id="304" name="Google Shape;304;p48"/>
          <p:cNvPicPr preferRelativeResize="0"/>
          <p:nvPr/>
        </p:nvPicPr>
        <p:blipFill>
          <a:blip r:embed="rId3">
            <a:alphaModFix/>
          </a:blip>
          <a:stretch>
            <a:fillRect/>
          </a:stretch>
        </p:blipFill>
        <p:spPr>
          <a:xfrm>
            <a:off x="2214563" y="2571750"/>
            <a:ext cx="7762875" cy="1714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withColumnRenamed Transformations</a:t>
            </a:r>
            <a:endParaRPr/>
          </a:p>
        </p:txBody>
      </p:sp>
      <p:pic>
        <p:nvPicPr>
          <p:cNvPr id="310" name="Google Shape;310;p49"/>
          <p:cNvPicPr preferRelativeResize="0"/>
          <p:nvPr/>
        </p:nvPicPr>
        <p:blipFill>
          <a:blip r:embed="rId3">
            <a:alphaModFix/>
          </a:blip>
          <a:stretch>
            <a:fillRect/>
          </a:stretch>
        </p:blipFill>
        <p:spPr>
          <a:xfrm>
            <a:off x="914400" y="2391726"/>
            <a:ext cx="7629525" cy="31337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printSchema()</a:t>
            </a:r>
            <a:endParaRPr/>
          </a:p>
        </p:txBody>
      </p:sp>
      <p:pic>
        <p:nvPicPr>
          <p:cNvPr id="316" name="Google Shape;316;p50"/>
          <p:cNvPicPr preferRelativeResize="0"/>
          <p:nvPr/>
        </p:nvPicPr>
        <p:blipFill>
          <a:blip r:embed="rId3">
            <a:alphaModFix/>
          </a:blip>
          <a:stretch>
            <a:fillRect/>
          </a:stretch>
        </p:blipFill>
        <p:spPr>
          <a:xfrm>
            <a:off x="1146300" y="2066926"/>
            <a:ext cx="7772400" cy="27241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1"/>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columns actions</a:t>
            </a:r>
            <a:endParaRPr/>
          </a:p>
        </p:txBody>
      </p:sp>
      <p:pic>
        <p:nvPicPr>
          <p:cNvPr id="322" name="Google Shape;322;p51"/>
          <p:cNvPicPr preferRelativeResize="0"/>
          <p:nvPr/>
        </p:nvPicPr>
        <p:blipFill>
          <a:blip r:embed="rId3">
            <a:alphaModFix/>
          </a:blip>
          <a:stretch>
            <a:fillRect/>
          </a:stretch>
        </p:blipFill>
        <p:spPr>
          <a:xfrm>
            <a:off x="1845563" y="2655613"/>
            <a:ext cx="7705725" cy="1381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2"/>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describe() actions</a:t>
            </a:r>
            <a:endParaRPr/>
          </a:p>
        </p:txBody>
      </p:sp>
      <p:pic>
        <p:nvPicPr>
          <p:cNvPr id="328" name="Google Shape;328;p52"/>
          <p:cNvPicPr preferRelativeResize="0"/>
          <p:nvPr/>
        </p:nvPicPr>
        <p:blipFill>
          <a:blip r:embed="rId3">
            <a:alphaModFix/>
          </a:blip>
          <a:stretch>
            <a:fillRect/>
          </a:stretch>
        </p:blipFill>
        <p:spPr>
          <a:xfrm>
            <a:off x="1063475" y="1662876"/>
            <a:ext cx="7800975" cy="32385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3"/>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DataFrame API vs SQL queries</a:t>
            </a:r>
            <a:endParaRPr/>
          </a:p>
        </p:txBody>
      </p:sp>
      <p:sp>
        <p:nvSpPr>
          <p:cNvPr id="334" name="Google Shape;334;p53"/>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55600" lvl="0" marL="457200" rtl="0" algn="l">
              <a:spcBef>
                <a:spcPts val="360"/>
              </a:spcBef>
              <a:spcAft>
                <a:spcPts val="0"/>
              </a:spcAft>
              <a:buSzPts val="2000"/>
              <a:buChar char="•"/>
            </a:pPr>
            <a:r>
              <a:rPr lang="en-US" sz="2000"/>
              <a:t>In PySpark You can interact with SparkSQL through DataFrame API and SQL queries</a:t>
            </a:r>
            <a:endParaRPr sz="2000"/>
          </a:p>
          <a:p>
            <a:pPr indent="-355600" lvl="0" marL="457200" rtl="0" algn="l">
              <a:spcBef>
                <a:spcPts val="0"/>
              </a:spcBef>
              <a:spcAft>
                <a:spcPts val="0"/>
              </a:spcAft>
              <a:buSzPts val="2000"/>
              <a:buChar char="•"/>
            </a:pPr>
            <a:r>
              <a:rPr lang="en-US" sz="2000"/>
              <a:t>The DataFrame API provides a programmatic domain-specific language (DSL) for data</a:t>
            </a:r>
            <a:endParaRPr sz="2000"/>
          </a:p>
          <a:p>
            <a:pPr indent="-355600" lvl="0" marL="457200" rtl="0" algn="l">
              <a:spcBef>
                <a:spcPts val="0"/>
              </a:spcBef>
              <a:spcAft>
                <a:spcPts val="0"/>
              </a:spcAft>
              <a:buSzPts val="2000"/>
              <a:buChar char="•"/>
            </a:pPr>
            <a:r>
              <a:rPr lang="en-US" sz="2000"/>
              <a:t>DataFrame transformations and actions are easier to construct programmatically</a:t>
            </a:r>
            <a:endParaRPr sz="2000"/>
          </a:p>
          <a:p>
            <a:pPr indent="-355600" lvl="0" marL="457200" rtl="0" algn="l">
              <a:spcBef>
                <a:spcPts val="0"/>
              </a:spcBef>
              <a:spcAft>
                <a:spcPts val="0"/>
              </a:spcAft>
              <a:buSzPts val="2000"/>
              <a:buChar char="•"/>
            </a:pPr>
            <a:r>
              <a:rPr lang="en-US" sz="2000"/>
              <a:t>SQL queries can be concise and easier to understand and portable</a:t>
            </a:r>
            <a:endParaRPr sz="2000"/>
          </a:p>
          <a:p>
            <a:pPr indent="-355600" lvl="0" marL="457200" rtl="0" algn="l">
              <a:spcBef>
                <a:spcPts val="0"/>
              </a:spcBef>
              <a:spcAft>
                <a:spcPts val="0"/>
              </a:spcAft>
              <a:buSzPts val="2000"/>
              <a:buChar char="•"/>
            </a:pPr>
            <a:r>
              <a:rPr lang="en-US" sz="2000"/>
              <a:t>The operations on DataFrames can also be done using SQL queries</a:t>
            </a:r>
            <a:endParaRPr sz="2000"/>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Executing SQL Queries</a:t>
            </a:r>
            <a:endParaRPr/>
          </a:p>
        </p:txBody>
      </p:sp>
      <p:pic>
        <p:nvPicPr>
          <p:cNvPr id="340" name="Google Shape;340;p54"/>
          <p:cNvPicPr preferRelativeResize="0"/>
          <p:nvPr/>
        </p:nvPicPr>
        <p:blipFill>
          <a:blip r:embed="rId3">
            <a:alphaModFix/>
          </a:blip>
          <a:stretch>
            <a:fillRect/>
          </a:stretch>
        </p:blipFill>
        <p:spPr>
          <a:xfrm>
            <a:off x="616225" y="2110126"/>
            <a:ext cx="7696200" cy="24860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5"/>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Executing SQL Queries</a:t>
            </a:r>
            <a:endParaRPr/>
          </a:p>
        </p:txBody>
      </p:sp>
      <p:pic>
        <p:nvPicPr>
          <p:cNvPr id="346" name="Google Shape;346;p55"/>
          <p:cNvPicPr preferRelativeResize="0"/>
          <p:nvPr/>
        </p:nvPicPr>
        <p:blipFill>
          <a:blip r:embed="rId3">
            <a:alphaModFix/>
          </a:blip>
          <a:stretch>
            <a:fillRect/>
          </a:stretch>
        </p:blipFill>
        <p:spPr>
          <a:xfrm>
            <a:off x="897825" y="1911351"/>
            <a:ext cx="7743825" cy="3200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6"/>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Summarizing and grouping data using SQL queries</a:t>
            </a:r>
            <a:endParaRPr/>
          </a:p>
        </p:txBody>
      </p:sp>
      <p:pic>
        <p:nvPicPr>
          <p:cNvPr id="352" name="Google Shape;352;p56"/>
          <p:cNvPicPr preferRelativeResize="0"/>
          <p:nvPr/>
        </p:nvPicPr>
        <p:blipFill>
          <a:blip r:embed="rId3">
            <a:alphaModFix/>
          </a:blip>
          <a:stretch>
            <a:fillRect/>
          </a:stretch>
        </p:blipFill>
        <p:spPr>
          <a:xfrm>
            <a:off x="1113175" y="1828801"/>
            <a:ext cx="7658100" cy="32004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Filtering columns using SQL queries</a:t>
            </a:r>
            <a:endParaRPr/>
          </a:p>
        </p:txBody>
      </p:sp>
      <p:pic>
        <p:nvPicPr>
          <p:cNvPr id="358" name="Google Shape;358;p57"/>
          <p:cNvPicPr preferRelativeResize="0"/>
          <p:nvPr/>
        </p:nvPicPr>
        <p:blipFill>
          <a:blip r:embed="rId3">
            <a:alphaModFix/>
          </a:blip>
          <a:stretch>
            <a:fillRect/>
          </a:stretch>
        </p:blipFill>
        <p:spPr>
          <a:xfrm>
            <a:off x="1734375" y="1887813"/>
            <a:ext cx="7696200" cy="32480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8"/>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is Data visualization?</a:t>
            </a:r>
            <a:endParaRPr/>
          </a:p>
        </p:txBody>
      </p:sp>
      <p:sp>
        <p:nvSpPr>
          <p:cNvPr id="364" name="Google Shape;364;p58"/>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46075" lvl="0" marL="457200" rtl="0" algn="l">
              <a:spcBef>
                <a:spcPts val="100"/>
              </a:spcBef>
              <a:spcAft>
                <a:spcPts val="0"/>
              </a:spcAft>
              <a:buClr>
                <a:schemeClr val="dk1"/>
              </a:buClr>
              <a:buSzPts val="1850"/>
              <a:buChar char="●"/>
            </a:pPr>
            <a:r>
              <a:rPr lang="en-US" sz="1850">
                <a:solidFill>
                  <a:schemeClr val="dk1"/>
                </a:solidFill>
                <a:highlight>
                  <a:srgbClr val="FFFFFF"/>
                </a:highlight>
              </a:rPr>
              <a:t>Data visualization is a way of representing your data in graphs or charts</a:t>
            </a:r>
            <a:endParaRPr sz="1850">
              <a:solidFill>
                <a:schemeClr val="dk1"/>
              </a:solidFill>
              <a:highlight>
                <a:srgbClr val="FFFFFF"/>
              </a:highlight>
            </a:endParaRPr>
          </a:p>
          <a:p>
            <a:pPr indent="-346075" lvl="0" marL="457200" rtl="0" algn="l">
              <a:spcBef>
                <a:spcPts val="0"/>
              </a:spcBef>
              <a:spcAft>
                <a:spcPts val="0"/>
              </a:spcAft>
              <a:buClr>
                <a:schemeClr val="dk1"/>
              </a:buClr>
              <a:buSzPts val="1850"/>
              <a:buChar char="●"/>
            </a:pPr>
            <a:r>
              <a:rPr lang="en-US" sz="1850">
                <a:solidFill>
                  <a:schemeClr val="dk1"/>
                </a:solidFill>
                <a:highlight>
                  <a:srgbClr val="FFFFFF"/>
                </a:highlight>
              </a:rPr>
              <a:t>Open source plotting tools to aid visualization in Python:</a:t>
            </a:r>
            <a:endParaRPr sz="1850">
              <a:solidFill>
                <a:schemeClr val="dk1"/>
              </a:solidFill>
              <a:highlight>
                <a:srgbClr val="FFFFFF"/>
              </a:highlight>
            </a:endParaRPr>
          </a:p>
          <a:p>
            <a:pPr indent="-346075" lvl="1" marL="914400" rtl="0" algn="l">
              <a:spcBef>
                <a:spcPts val="0"/>
              </a:spcBef>
              <a:spcAft>
                <a:spcPts val="0"/>
              </a:spcAft>
              <a:buClr>
                <a:schemeClr val="dk1"/>
              </a:buClr>
              <a:buSzPts val="1850"/>
              <a:buChar char="○"/>
            </a:pPr>
            <a:r>
              <a:rPr lang="en-US" sz="1850">
                <a:solidFill>
                  <a:schemeClr val="dk1"/>
                </a:solidFill>
                <a:highlight>
                  <a:srgbClr val="FFFFFF"/>
                </a:highlight>
              </a:rPr>
              <a:t>Matplotlib, Seaborn, Bokeh etc.,</a:t>
            </a:r>
            <a:endParaRPr sz="1850">
              <a:solidFill>
                <a:schemeClr val="dk1"/>
              </a:solidFill>
              <a:highlight>
                <a:srgbClr val="FFFFFF"/>
              </a:highlight>
            </a:endParaRPr>
          </a:p>
          <a:p>
            <a:pPr indent="0" lvl="0" marL="0" rtl="0" algn="l">
              <a:spcBef>
                <a:spcPts val="100"/>
              </a:spcBef>
              <a:spcAft>
                <a:spcPts val="0"/>
              </a:spcAft>
              <a:buNone/>
            </a:pPr>
            <a:r>
              <a:t/>
            </a:r>
            <a:endParaRPr sz="1850">
              <a:solidFill>
                <a:schemeClr val="dk1"/>
              </a:solidFill>
              <a:highlight>
                <a:srgbClr val="FFFFFF"/>
              </a:highlight>
            </a:endParaRPr>
          </a:p>
          <a:p>
            <a:pPr indent="-346075" lvl="0" marL="457200" rtl="0" algn="l">
              <a:spcBef>
                <a:spcPts val="100"/>
              </a:spcBef>
              <a:spcAft>
                <a:spcPts val="0"/>
              </a:spcAft>
              <a:buClr>
                <a:schemeClr val="dk1"/>
              </a:buClr>
              <a:buSzPts val="1850"/>
              <a:buChar char="•"/>
            </a:pPr>
            <a:r>
              <a:rPr lang="en-US" sz="1850">
                <a:solidFill>
                  <a:schemeClr val="dk1"/>
                </a:solidFill>
                <a:highlight>
                  <a:srgbClr val="FFFFFF"/>
                </a:highlight>
              </a:rPr>
              <a:t>Plotting graphs using PySpark DataFrames is done using three methods</a:t>
            </a:r>
            <a:endParaRPr sz="1850">
              <a:solidFill>
                <a:schemeClr val="dk1"/>
              </a:solidFill>
              <a:highlight>
                <a:srgbClr val="FFFFFF"/>
              </a:highlight>
            </a:endParaRPr>
          </a:p>
          <a:p>
            <a:pPr indent="-346075" lvl="1" marL="914400" rtl="0" algn="l">
              <a:spcBef>
                <a:spcPts val="0"/>
              </a:spcBef>
              <a:spcAft>
                <a:spcPts val="0"/>
              </a:spcAft>
              <a:buClr>
                <a:schemeClr val="dk1"/>
              </a:buClr>
              <a:buSzPts val="1850"/>
              <a:buChar char="–"/>
            </a:pPr>
            <a:r>
              <a:rPr lang="en-US" sz="1850">
                <a:solidFill>
                  <a:schemeClr val="dk1"/>
                </a:solidFill>
                <a:highlight>
                  <a:srgbClr val="FFFFFF"/>
                </a:highlight>
              </a:rPr>
              <a:t>pyspark_dist_explore library</a:t>
            </a:r>
            <a:endParaRPr sz="1850">
              <a:solidFill>
                <a:schemeClr val="dk1"/>
              </a:solidFill>
              <a:highlight>
                <a:srgbClr val="FFFFFF"/>
              </a:highlight>
            </a:endParaRPr>
          </a:p>
          <a:p>
            <a:pPr indent="-346075" lvl="1" marL="914400" rtl="0" algn="l">
              <a:spcBef>
                <a:spcPts val="0"/>
              </a:spcBef>
              <a:spcAft>
                <a:spcPts val="0"/>
              </a:spcAft>
              <a:buClr>
                <a:schemeClr val="dk1"/>
              </a:buClr>
              <a:buSzPts val="1850"/>
              <a:buChar char="–"/>
            </a:pPr>
            <a:r>
              <a:rPr lang="en-US" sz="1850">
                <a:solidFill>
                  <a:schemeClr val="dk1"/>
                </a:solidFill>
                <a:highlight>
                  <a:srgbClr val="FFFFFF"/>
                </a:highlight>
              </a:rPr>
              <a:t>toPandas()</a:t>
            </a:r>
            <a:endParaRPr sz="1850">
              <a:solidFill>
                <a:schemeClr val="dk1"/>
              </a:solidFill>
              <a:highlight>
                <a:srgbClr val="FFFFFF"/>
              </a:highlight>
            </a:endParaRPr>
          </a:p>
          <a:p>
            <a:pPr indent="-346075" lvl="1" marL="914400" rtl="0" algn="l">
              <a:spcBef>
                <a:spcPts val="0"/>
              </a:spcBef>
              <a:spcAft>
                <a:spcPts val="0"/>
              </a:spcAft>
              <a:buClr>
                <a:schemeClr val="dk1"/>
              </a:buClr>
              <a:buSzPts val="1850"/>
              <a:buChar char="–"/>
            </a:pPr>
            <a:r>
              <a:rPr lang="en-US" sz="1850">
                <a:solidFill>
                  <a:schemeClr val="dk1"/>
                </a:solidFill>
                <a:highlight>
                  <a:srgbClr val="FFFFFF"/>
                </a:highlight>
              </a:rPr>
              <a:t>HandySpark library</a:t>
            </a:r>
            <a:endParaRPr sz="18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 Visualization using Pyspark_dist_explore</a:t>
            </a:r>
            <a:endParaRPr/>
          </a:p>
        </p:txBody>
      </p:sp>
      <p:pic>
        <p:nvPicPr>
          <p:cNvPr id="370" name="Google Shape;370;p59"/>
          <p:cNvPicPr preferRelativeResize="0"/>
          <p:nvPr/>
        </p:nvPicPr>
        <p:blipFill>
          <a:blip r:embed="rId3">
            <a:alphaModFix/>
          </a:blip>
          <a:stretch>
            <a:fillRect/>
          </a:stretch>
        </p:blipFill>
        <p:spPr>
          <a:xfrm>
            <a:off x="1146300" y="2441426"/>
            <a:ext cx="7515225" cy="24479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Using Pandas for plotting DataFrames</a:t>
            </a:r>
            <a:endParaRPr/>
          </a:p>
        </p:txBody>
      </p:sp>
      <p:pic>
        <p:nvPicPr>
          <p:cNvPr id="376" name="Google Shape;376;p60"/>
          <p:cNvPicPr preferRelativeResize="0"/>
          <p:nvPr/>
        </p:nvPicPr>
        <p:blipFill>
          <a:blip r:embed="rId3">
            <a:alphaModFix/>
          </a:blip>
          <a:stretch>
            <a:fillRect/>
          </a:stretch>
        </p:blipFill>
        <p:spPr>
          <a:xfrm>
            <a:off x="980675" y="2010750"/>
            <a:ext cx="8751025" cy="29091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1"/>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Pandas DataFrame vs PySpark DataFrame</a:t>
            </a:r>
            <a:endParaRPr/>
          </a:p>
        </p:txBody>
      </p:sp>
      <p:sp>
        <p:nvSpPr>
          <p:cNvPr id="382" name="Google Shape;382;p61"/>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58775" lvl="0" marL="457200" rtl="0" algn="l">
              <a:spcBef>
                <a:spcPts val="100"/>
              </a:spcBef>
              <a:spcAft>
                <a:spcPts val="0"/>
              </a:spcAft>
              <a:buClr>
                <a:schemeClr val="dk1"/>
              </a:buClr>
              <a:buSzPts val="2050"/>
              <a:buChar char="•"/>
            </a:pPr>
            <a:r>
              <a:rPr lang="en-US" sz="2050">
                <a:solidFill>
                  <a:schemeClr val="dk1"/>
                </a:solidFill>
                <a:highlight>
                  <a:srgbClr val="FFFFFF"/>
                </a:highlight>
              </a:rPr>
              <a:t>Pandas DataFrames are in-memory, single-server based structures and operations on PySpark run in parallel</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The result is generated as we apply any operation in Pandas whereas operations in PySpark DataFrame are lazy evaluation</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Pandas DataFrame as mutable and PySpark DataFrames are immutable</a:t>
            </a:r>
            <a:endParaRPr sz="2050">
              <a:solidFill>
                <a:schemeClr val="dk1"/>
              </a:solidFill>
              <a:highlight>
                <a:srgbClr val="FFFFFF"/>
              </a:highlight>
            </a:endParaRPr>
          </a:p>
          <a:p>
            <a:pPr indent="-358775" lvl="0" marL="457200" rtl="0" algn="l">
              <a:spcBef>
                <a:spcPts val="0"/>
              </a:spcBef>
              <a:spcAft>
                <a:spcPts val="0"/>
              </a:spcAft>
              <a:buClr>
                <a:schemeClr val="dk1"/>
              </a:buClr>
              <a:buSzPts val="2050"/>
              <a:buChar char="•"/>
            </a:pPr>
            <a:r>
              <a:rPr lang="en-US" sz="2050">
                <a:solidFill>
                  <a:schemeClr val="dk1"/>
                </a:solidFill>
                <a:highlight>
                  <a:srgbClr val="FFFFFF"/>
                </a:highlight>
              </a:rPr>
              <a:t>Pandas API support more operations than PySpark Dataframe API</a:t>
            </a:r>
            <a:endParaRPr sz="20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HandySpark method of visualization</a:t>
            </a:r>
            <a:endParaRPr/>
          </a:p>
        </p:txBody>
      </p:sp>
      <p:pic>
        <p:nvPicPr>
          <p:cNvPr id="388" name="Google Shape;388;p62"/>
          <p:cNvPicPr preferRelativeResize="0"/>
          <p:nvPr/>
        </p:nvPicPr>
        <p:blipFill>
          <a:blip r:embed="rId3">
            <a:alphaModFix/>
          </a:blip>
          <a:stretch>
            <a:fillRect/>
          </a:stretch>
        </p:blipFill>
        <p:spPr>
          <a:xfrm>
            <a:off x="2343150" y="2005013"/>
            <a:ext cx="7505700" cy="28479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is PySpark MLlib?</a:t>
            </a:r>
            <a:endParaRPr/>
          </a:p>
        </p:txBody>
      </p:sp>
      <p:pic>
        <p:nvPicPr>
          <p:cNvPr id="394" name="Google Shape;394;p63"/>
          <p:cNvPicPr preferRelativeResize="0"/>
          <p:nvPr/>
        </p:nvPicPr>
        <p:blipFill>
          <a:blip r:embed="rId3">
            <a:alphaModFix/>
          </a:blip>
          <a:stretch>
            <a:fillRect/>
          </a:stretch>
        </p:blipFill>
        <p:spPr>
          <a:xfrm>
            <a:off x="1063475" y="1894801"/>
            <a:ext cx="7534275" cy="26384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Why PySpark MLlib?</a:t>
            </a:r>
            <a:endParaRPr/>
          </a:p>
        </p:txBody>
      </p:sp>
      <p:sp>
        <p:nvSpPr>
          <p:cNvPr id="400" name="Google Shape;400;p64"/>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65125" lvl="0" marL="457200" rtl="0" algn="l">
              <a:spcBef>
                <a:spcPts val="100"/>
              </a:spcBef>
              <a:spcAft>
                <a:spcPts val="0"/>
              </a:spcAft>
              <a:buClr>
                <a:schemeClr val="dk1"/>
              </a:buClr>
              <a:buSzPts val="2150"/>
              <a:buChar char="•"/>
            </a:pPr>
            <a:r>
              <a:rPr lang="en-US" sz="2150">
                <a:solidFill>
                  <a:schemeClr val="dk1"/>
                </a:solidFill>
                <a:highlight>
                  <a:srgbClr val="FFFFFF"/>
                </a:highlight>
              </a:rPr>
              <a:t>Scikit-learn is a popular Python library for data mining and machine learning</a:t>
            </a:r>
            <a:endParaRPr sz="2150">
              <a:solidFill>
                <a:schemeClr val="dk1"/>
              </a:solidFill>
              <a:highlight>
                <a:srgbClr val="FFFFFF"/>
              </a:highlight>
            </a:endParaRPr>
          </a:p>
          <a:p>
            <a:pPr indent="-365125" lvl="0" marL="457200" rtl="0" algn="l">
              <a:spcBef>
                <a:spcPts val="0"/>
              </a:spcBef>
              <a:spcAft>
                <a:spcPts val="0"/>
              </a:spcAft>
              <a:buClr>
                <a:schemeClr val="dk1"/>
              </a:buClr>
              <a:buSzPts val="2150"/>
              <a:buChar char="•"/>
            </a:pPr>
            <a:r>
              <a:rPr lang="en-US" sz="2150">
                <a:solidFill>
                  <a:schemeClr val="dk1"/>
                </a:solidFill>
                <a:highlight>
                  <a:srgbClr val="FFFFFF"/>
                </a:highlight>
              </a:rPr>
              <a:t>Scikit-learn algorithms only work for small datasets on a single machine</a:t>
            </a:r>
            <a:endParaRPr sz="2150">
              <a:solidFill>
                <a:schemeClr val="dk1"/>
              </a:solidFill>
              <a:highlight>
                <a:srgbClr val="FFFFFF"/>
              </a:highlight>
            </a:endParaRPr>
          </a:p>
          <a:p>
            <a:pPr indent="-365125" lvl="0" marL="457200" rtl="0" algn="l">
              <a:spcBef>
                <a:spcPts val="0"/>
              </a:spcBef>
              <a:spcAft>
                <a:spcPts val="0"/>
              </a:spcAft>
              <a:buClr>
                <a:schemeClr val="dk1"/>
              </a:buClr>
              <a:buSzPts val="2150"/>
              <a:buChar char="•"/>
            </a:pPr>
            <a:r>
              <a:rPr lang="en-US" sz="2150">
                <a:solidFill>
                  <a:schemeClr val="dk1"/>
                </a:solidFill>
                <a:highlight>
                  <a:srgbClr val="FFFFFF"/>
                </a:highlight>
              </a:rPr>
              <a:t>Spark's MLlib algorithms are designed for parallel processing on a cluster</a:t>
            </a:r>
            <a:endParaRPr sz="2150">
              <a:solidFill>
                <a:schemeClr val="dk1"/>
              </a:solidFill>
              <a:highlight>
                <a:srgbClr val="FFFFFF"/>
              </a:highlight>
            </a:endParaRPr>
          </a:p>
          <a:p>
            <a:pPr indent="-365125" lvl="0" marL="457200" rtl="0" algn="l">
              <a:spcBef>
                <a:spcPts val="0"/>
              </a:spcBef>
              <a:spcAft>
                <a:spcPts val="0"/>
              </a:spcAft>
              <a:buClr>
                <a:schemeClr val="dk1"/>
              </a:buClr>
              <a:buSzPts val="2150"/>
              <a:buChar char="•"/>
            </a:pPr>
            <a:r>
              <a:rPr lang="en-US" sz="2150">
                <a:solidFill>
                  <a:schemeClr val="dk1"/>
                </a:solidFill>
                <a:highlight>
                  <a:srgbClr val="FFFFFF"/>
                </a:highlight>
              </a:rPr>
              <a:t>Supports languages such as Scala, Java, and R</a:t>
            </a:r>
            <a:endParaRPr sz="2150">
              <a:solidFill>
                <a:schemeClr val="dk1"/>
              </a:solidFill>
              <a:highlight>
                <a:srgbClr val="FFFFFF"/>
              </a:highlight>
            </a:endParaRPr>
          </a:p>
          <a:p>
            <a:pPr indent="-365125" lvl="0" marL="457200" rtl="0" algn="l">
              <a:spcBef>
                <a:spcPts val="0"/>
              </a:spcBef>
              <a:spcAft>
                <a:spcPts val="0"/>
              </a:spcAft>
              <a:buClr>
                <a:schemeClr val="dk1"/>
              </a:buClr>
              <a:buSzPts val="2150"/>
              <a:buChar char="•"/>
            </a:pPr>
            <a:r>
              <a:rPr lang="en-US" sz="2150">
                <a:solidFill>
                  <a:schemeClr val="dk1"/>
                </a:solidFill>
                <a:highlight>
                  <a:srgbClr val="FFFFFF"/>
                </a:highlight>
              </a:rPr>
              <a:t>Provides a high-level API to build machine learning pipelines</a:t>
            </a:r>
            <a:endParaRPr sz="21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5"/>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PySpark MLlib Algorithms</a:t>
            </a:r>
            <a:endParaRPr/>
          </a:p>
        </p:txBody>
      </p:sp>
      <p:sp>
        <p:nvSpPr>
          <p:cNvPr id="406" name="Google Shape;406;p65"/>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52425" lvl="0" marL="457200" rtl="0" algn="l">
              <a:lnSpc>
                <a:spcPct val="115000"/>
              </a:lnSpc>
              <a:spcBef>
                <a:spcPts val="0"/>
              </a:spcBef>
              <a:spcAft>
                <a:spcPts val="0"/>
              </a:spcAft>
              <a:buClr>
                <a:schemeClr val="dk1"/>
              </a:buClr>
              <a:buSzPts val="1950"/>
              <a:buChar char="•"/>
            </a:pPr>
            <a:r>
              <a:rPr b="1" lang="en-US" sz="1950">
                <a:solidFill>
                  <a:schemeClr val="dk1"/>
                </a:solidFill>
                <a:highlight>
                  <a:srgbClr val="FFFFFF"/>
                </a:highlight>
              </a:rPr>
              <a:t>Classification (Binary and Multiclass) and Regression : </a:t>
            </a:r>
            <a:r>
              <a:rPr lang="en-US" sz="1950">
                <a:solidFill>
                  <a:schemeClr val="dk1"/>
                </a:solidFill>
                <a:highlight>
                  <a:srgbClr val="FFFFFF"/>
                </a:highlight>
              </a:rPr>
              <a:t>Linear SVMs, logistic regression,</a:t>
            </a:r>
            <a:endParaRPr sz="1950">
              <a:solidFill>
                <a:schemeClr val="dk1"/>
              </a:solidFill>
              <a:highlight>
                <a:srgbClr val="FFFFFF"/>
              </a:highlight>
            </a:endParaRPr>
          </a:p>
          <a:p>
            <a:pPr indent="0" lvl="0" marL="457200" rtl="0" algn="l">
              <a:lnSpc>
                <a:spcPct val="115000"/>
              </a:lnSpc>
              <a:spcBef>
                <a:spcPts val="0"/>
              </a:spcBef>
              <a:spcAft>
                <a:spcPts val="0"/>
              </a:spcAft>
              <a:buNone/>
            </a:pPr>
            <a:r>
              <a:rPr lang="en-US" sz="1950">
                <a:solidFill>
                  <a:schemeClr val="dk1"/>
                </a:solidFill>
                <a:highlight>
                  <a:srgbClr val="FFFFFF"/>
                </a:highlight>
              </a:rPr>
              <a:t>decision trees, random forests, gradient-boosted trees, naive Bayes, linear least squares,</a:t>
            </a:r>
            <a:endParaRPr sz="1950">
              <a:solidFill>
                <a:schemeClr val="dk1"/>
              </a:solidFill>
              <a:highlight>
                <a:srgbClr val="FFFFFF"/>
              </a:highlight>
            </a:endParaRPr>
          </a:p>
          <a:p>
            <a:pPr indent="0" lvl="0" marL="457200" rtl="0" algn="l">
              <a:lnSpc>
                <a:spcPct val="115000"/>
              </a:lnSpc>
              <a:spcBef>
                <a:spcPts val="0"/>
              </a:spcBef>
              <a:spcAft>
                <a:spcPts val="0"/>
              </a:spcAft>
              <a:buNone/>
            </a:pPr>
            <a:r>
              <a:rPr lang="en-US" sz="1950">
                <a:solidFill>
                  <a:schemeClr val="dk1"/>
                </a:solidFill>
                <a:highlight>
                  <a:srgbClr val="FFFFFF"/>
                </a:highlight>
              </a:rPr>
              <a:t>Lasso, ridge regression, isotonic regression</a:t>
            </a:r>
            <a:endParaRPr sz="1950">
              <a:solidFill>
                <a:schemeClr val="dk1"/>
              </a:solidFill>
              <a:highlight>
                <a:srgbClr val="FFFFFF"/>
              </a:highlight>
            </a:endParaRPr>
          </a:p>
          <a:p>
            <a:pPr indent="-352425" lvl="0" marL="457200" rtl="0" algn="l">
              <a:lnSpc>
                <a:spcPct val="115000"/>
              </a:lnSpc>
              <a:spcBef>
                <a:spcPts val="0"/>
              </a:spcBef>
              <a:spcAft>
                <a:spcPts val="0"/>
              </a:spcAft>
              <a:buClr>
                <a:schemeClr val="dk1"/>
              </a:buClr>
              <a:buSzPts val="1950"/>
              <a:buChar char="•"/>
            </a:pPr>
            <a:r>
              <a:rPr b="1" lang="en-US" sz="1950">
                <a:solidFill>
                  <a:schemeClr val="dk1"/>
                </a:solidFill>
                <a:highlight>
                  <a:srgbClr val="FFFFFF"/>
                </a:highlight>
              </a:rPr>
              <a:t>Collaborative filtering :</a:t>
            </a:r>
            <a:r>
              <a:rPr lang="en-US" sz="1950">
                <a:solidFill>
                  <a:schemeClr val="dk1"/>
                </a:solidFill>
                <a:highlight>
                  <a:srgbClr val="FFFFFF"/>
                </a:highlight>
              </a:rPr>
              <a:t> Alternating least squares (ALS)</a:t>
            </a:r>
            <a:endParaRPr sz="1950">
              <a:solidFill>
                <a:schemeClr val="dk1"/>
              </a:solidFill>
              <a:highlight>
                <a:srgbClr val="FFFFFF"/>
              </a:highlight>
            </a:endParaRPr>
          </a:p>
          <a:p>
            <a:pPr indent="-352425" lvl="0" marL="457200" rtl="0" algn="l">
              <a:lnSpc>
                <a:spcPct val="115000"/>
              </a:lnSpc>
              <a:spcBef>
                <a:spcPts val="0"/>
              </a:spcBef>
              <a:spcAft>
                <a:spcPts val="0"/>
              </a:spcAft>
              <a:buClr>
                <a:schemeClr val="dk1"/>
              </a:buClr>
              <a:buSzPts val="1950"/>
              <a:buChar char="•"/>
            </a:pPr>
            <a:r>
              <a:rPr b="1" lang="en-US" sz="1950">
                <a:solidFill>
                  <a:schemeClr val="dk1"/>
                </a:solidFill>
                <a:highlight>
                  <a:srgbClr val="FFFFFF"/>
                </a:highlight>
              </a:rPr>
              <a:t>Clustering : </a:t>
            </a:r>
            <a:r>
              <a:rPr lang="en-US" sz="1950">
                <a:solidFill>
                  <a:schemeClr val="dk1"/>
                </a:solidFill>
                <a:highlight>
                  <a:srgbClr val="FFFFFF"/>
                </a:highlight>
              </a:rPr>
              <a:t>K-means, Gaussian mixture, Bisecting K-means and Streaming K-Means</a:t>
            </a:r>
            <a:endParaRPr sz="1950">
              <a:solidFill>
                <a:schemeClr val="dk1"/>
              </a:solidFill>
              <a:highlight>
                <a:srgbClr val="FFFFFF"/>
              </a:highlight>
            </a:endParaRPr>
          </a:p>
          <a:p>
            <a:pPr indent="0" lvl="0" marL="0" rtl="0" algn="l">
              <a:spcBef>
                <a:spcPts val="36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6"/>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PySpark MLlib imports</a:t>
            </a:r>
            <a:endParaRPr/>
          </a:p>
        </p:txBody>
      </p:sp>
      <p:pic>
        <p:nvPicPr>
          <p:cNvPr id="412" name="Google Shape;412;p66"/>
          <p:cNvPicPr preferRelativeResize="0"/>
          <p:nvPr/>
        </p:nvPicPr>
        <p:blipFill>
          <a:blip r:embed="rId3">
            <a:alphaModFix/>
          </a:blip>
          <a:stretch>
            <a:fillRect/>
          </a:stretch>
        </p:blipFill>
        <p:spPr>
          <a:xfrm>
            <a:off x="1030350" y="2143126"/>
            <a:ext cx="7267575" cy="25717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7"/>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is Collaborative filtering?</a:t>
            </a:r>
            <a:endParaRPr/>
          </a:p>
        </p:txBody>
      </p:sp>
      <p:sp>
        <p:nvSpPr>
          <p:cNvPr id="418" name="Google Shape;418;p67"/>
          <p:cNvSpPr txBox="1"/>
          <p:nvPr>
            <p:ph idx="1" type="body"/>
          </p:nvPr>
        </p:nvSpPr>
        <p:spPr>
          <a:xfrm>
            <a:off x="334963" y="1585913"/>
            <a:ext cx="11522100" cy="4114800"/>
          </a:xfrm>
          <a:prstGeom prst="rect">
            <a:avLst/>
          </a:prstGeom>
        </p:spPr>
        <p:txBody>
          <a:bodyPr anchorCtr="0" anchor="t" bIns="45700" lIns="91425" spcFirstLastPara="1" rIns="91425" wrap="square" tIns="45700">
            <a:noAutofit/>
          </a:bodyPr>
          <a:lstStyle/>
          <a:p>
            <a:pPr indent="-365125" lvl="0" marL="457200" rtl="0" algn="l">
              <a:spcBef>
                <a:spcPts val="100"/>
              </a:spcBef>
              <a:spcAft>
                <a:spcPts val="0"/>
              </a:spcAft>
              <a:buClr>
                <a:schemeClr val="dk1"/>
              </a:buClr>
              <a:buSzPts val="2150"/>
              <a:buFont typeface="Lato"/>
              <a:buChar char="•"/>
            </a:pPr>
            <a:r>
              <a:rPr lang="en-US" sz="2150">
                <a:solidFill>
                  <a:schemeClr val="dk1"/>
                </a:solidFill>
                <a:highlight>
                  <a:srgbClr val="FFFFFF"/>
                </a:highlight>
              </a:rPr>
              <a:t>Collaborative filtering is finding users that share common interests</a:t>
            </a:r>
            <a:endParaRPr sz="2150">
              <a:solidFill>
                <a:schemeClr val="dk1"/>
              </a:solidFill>
              <a:highlight>
                <a:srgbClr val="FFFFFF"/>
              </a:highlight>
            </a:endParaRPr>
          </a:p>
          <a:p>
            <a:pPr indent="-365125" lvl="0" marL="457200" rtl="0" algn="l">
              <a:spcBef>
                <a:spcPts val="0"/>
              </a:spcBef>
              <a:spcAft>
                <a:spcPts val="0"/>
              </a:spcAft>
              <a:buClr>
                <a:schemeClr val="dk1"/>
              </a:buClr>
              <a:buSzPts val="2150"/>
              <a:buFont typeface="Lato"/>
              <a:buChar char="•"/>
            </a:pPr>
            <a:r>
              <a:rPr lang="en-US" sz="2150">
                <a:solidFill>
                  <a:schemeClr val="dk1"/>
                </a:solidFill>
                <a:highlight>
                  <a:srgbClr val="FFFFFF"/>
                </a:highlight>
              </a:rPr>
              <a:t>Collaborative filtering is commonly used for recommender systems</a:t>
            </a:r>
            <a:endParaRPr sz="2150">
              <a:solidFill>
                <a:schemeClr val="dk1"/>
              </a:solidFill>
              <a:highlight>
                <a:srgbClr val="FFFFFF"/>
              </a:highlight>
            </a:endParaRPr>
          </a:p>
          <a:p>
            <a:pPr indent="-365125" lvl="0" marL="457200" rtl="0" algn="l">
              <a:spcBef>
                <a:spcPts val="0"/>
              </a:spcBef>
              <a:spcAft>
                <a:spcPts val="0"/>
              </a:spcAft>
              <a:buClr>
                <a:schemeClr val="dk1"/>
              </a:buClr>
              <a:buSzPts val="2150"/>
              <a:buFont typeface="Lato"/>
              <a:buChar char="•"/>
            </a:pPr>
            <a:r>
              <a:rPr lang="en-US" sz="2150">
                <a:solidFill>
                  <a:schemeClr val="dk1"/>
                </a:solidFill>
                <a:highlight>
                  <a:srgbClr val="FFFFFF"/>
                </a:highlight>
              </a:rPr>
              <a:t>Collaborative filtering approaches:</a:t>
            </a:r>
            <a:endParaRPr sz="2150">
              <a:solidFill>
                <a:schemeClr val="dk1"/>
              </a:solidFill>
              <a:highlight>
                <a:srgbClr val="FFFFFF"/>
              </a:highlight>
            </a:endParaRPr>
          </a:p>
          <a:p>
            <a:pPr indent="-365125" lvl="0" marL="914400" rtl="0" algn="l">
              <a:spcBef>
                <a:spcPts val="0"/>
              </a:spcBef>
              <a:spcAft>
                <a:spcPts val="0"/>
              </a:spcAft>
              <a:buClr>
                <a:schemeClr val="dk1"/>
              </a:buClr>
              <a:buSzPts val="2150"/>
              <a:buFont typeface="Lato"/>
              <a:buChar char="•"/>
            </a:pPr>
            <a:r>
              <a:rPr b="1" lang="en-US" sz="2150">
                <a:solidFill>
                  <a:schemeClr val="dk1"/>
                </a:solidFill>
                <a:highlight>
                  <a:srgbClr val="FFFFFF"/>
                </a:highlight>
              </a:rPr>
              <a:t>User-User Collaborative filtering : </a:t>
            </a:r>
            <a:r>
              <a:rPr lang="en-US" sz="2150">
                <a:solidFill>
                  <a:schemeClr val="dk1"/>
                </a:solidFill>
                <a:highlight>
                  <a:srgbClr val="FFFFFF"/>
                </a:highlight>
              </a:rPr>
              <a:t>Finds users that are similar to the target user</a:t>
            </a:r>
            <a:endParaRPr sz="2150">
              <a:solidFill>
                <a:schemeClr val="dk1"/>
              </a:solidFill>
              <a:highlight>
                <a:srgbClr val="FFFFFF"/>
              </a:highlight>
            </a:endParaRPr>
          </a:p>
          <a:p>
            <a:pPr indent="-365125" lvl="0" marL="914400" rtl="0" algn="l">
              <a:spcBef>
                <a:spcPts val="0"/>
              </a:spcBef>
              <a:spcAft>
                <a:spcPts val="0"/>
              </a:spcAft>
              <a:buClr>
                <a:schemeClr val="dk1"/>
              </a:buClr>
              <a:buSzPts val="2150"/>
              <a:buFont typeface="Lato"/>
              <a:buChar char="•"/>
            </a:pPr>
            <a:r>
              <a:rPr b="1" lang="en-US" sz="2150">
                <a:solidFill>
                  <a:schemeClr val="dk1"/>
                </a:solidFill>
                <a:highlight>
                  <a:srgbClr val="FFFFFF"/>
                </a:highlight>
              </a:rPr>
              <a:t>Item-Item Collaborative filtering :</a:t>
            </a:r>
            <a:r>
              <a:rPr lang="en-US" sz="2150">
                <a:solidFill>
                  <a:schemeClr val="dk1"/>
                </a:solidFill>
                <a:highlight>
                  <a:srgbClr val="FFFFFF"/>
                </a:highlight>
              </a:rPr>
              <a:t> Finds and recommends items that are similar to items</a:t>
            </a:r>
            <a:endParaRPr sz="2150">
              <a:solidFill>
                <a:schemeClr val="dk1"/>
              </a:solidFill>
              <a:highlight>
                <a:srgbClr val="FFFFFF"/>
              </a:highlight>
            </a:endParaRPr>
          </a:p>
          <a:p>
            <a:pPr indent="0" lvl="0" marL="914400" rtl="0" algn="l">
              <a:spcBef>
                <a:spcPts val="100"/>
              </a:spcBef>
              <a:spcAft>
                <a:spcPts val="0"/>
              </a:spcAft>
              <a:buNone/>
            </a:pPr>
            <a:r>
              <a:rPr lang="en-US" sz="2150">
                <a:solidFill>
                  <a:schemeClr val="dk1"/>
                </a:solidFill>
                <a:highlight>
                  <a:srgbClr val="FFFFFF"/>
                </a:highlight>
              </a:rPr>
              <a:t>with the target user</a:t>
            </a:r>
            <a:endParaRPr sz="2150">
              <a:solidFill>
                <a:schemeClr val="dk1"/>
              </a:solidFill>
              <a:highlight>
                <a:srgbClr val="FFFFFF"/>
              </a:highlight>
            </a:endParaRPr>
          </a:p>
          <a:p>
            <a:pPr indent="0" lvl="0" marL="0" rtl="0" algn="l">
              <a:spcBef>
                <a:spcPts val="360"/>
              </a:spcBef>
              <a:spcAft>
                <a:spcPts val="0"/>
              </a:spcAft>
              <a:buNone/>
            </a:pPr>
            <a:r>
              <a:t/>
            </a:r>
            <a:endParaRPr sz="23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Rating class in pyspark.mllib.recommendationsubmodule</a:t>
            </a:r>
            <a:endParaRPr/>
          </a:p>
        </p:txBody>
      </p:sp>
      <p:pic>
        <p:nvPicPr>
          <p:cNvPr id="424" name="Google Shape;424;p68"/>
          <p:cNvPicPr preferRelativeResize="0"/>
          <p:nvPr/>
        </p:nvPicPr>
        <p:blipFill>
          <a:blip r:embed="rId3">
            <a:alphaModFix/>
          </a:blip>
          <a:stretch>
            <a:fillRect/>
          </a:stretch>
        </p:blipFill>
        <p:spPr>
          <a:xfrm>
            <a:off x="823300" y="2013500"/>
            <a:ext cx="10381125" cy="32376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9"/>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Splitting the data using randomSplit()</a:t>
            </a:r>
            <a:endParaRPr/>
          </a:p>
        </p:txBody>
      </p:sp>
      <p:pic>
        <p:nvPicPr>
          <p:cNvPr id="430" name="Google Shape;430;p69"/>
          <p:cNvPicPr preferRelativeResize="0"/>
          <p:nvPr/>
        </p:nvPicPr>
        <p:blipFill>
          <a:blip r:embed="rId3">
            <a:alphaModFix/>
          </a:blip>
          <a:stretch>
            <a:fillRect/>
          </a:stretch>
        </p:blipFill>
        <p:spPr>
          <a:xfrm>
            <a:off x="1805600" y="1828800"/>
            <a:ext cx="8514525" cy="38033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70"/>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Alternating Least Squares (ALS)</a:t>
            </a:r>
            <a:endParaRPr/>
          </a:p>
        </p:txBody>
      </p:sp>
      <p:pic>
        <p:nvPicPr>
          <p:cNvPr id="436" name="Google Shape;436;p70"/>
          <p:cNvPicPr preferRelativeResize="0"/>
          <p:nvPr/>
        </p:nvPicPr>
        <p:blipFill>
          <a:blip r:embed="rId3">
            <a:alphaModFix/>
          </a:blip>
          <a:stretch>
            <a:fillRect/>
          </a:stretch>
        </p:blipFill>
        <p:spPr>
          <a:xfrm>
            <a:off x="930975" y="2126676"/>
            <a:ext cx="7724775" cy="31623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1"/>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predictAll()</a:t>
            </a:r>
            <a:endParaRPr/>
          </a:p>
        </p:txBody>
      </p:sp>
      <p:pic>
        <p:nvPicPr>
          <p:cNvPr id="442" name="Google Shape;442;p71"/>
          <p:cNvPicPr preferRelativeResize="0"/>
          <p:nvPr/>
        </p:nvPicPr>
        <p:blipFill>
          <a:blip r:embed="rId3">
            <a:alphaModFix/>
          </a:blip>
          <a:stretch>
            <a:fillRect/>
          </a:stretch>
        </p:blipFill>
        <p:spPr>
          <a:xfrm>
            <a:off x="980675" y="1778826"/>
            <a:ext cx="7772400" cy="28860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2"/>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Model evaluation</a:t>
            </a:r>
            <a:endParaRPr/>
          </a:p>
        </p:txBody>
      </p:sp>
      <p:pic>
        <p:nvPicPr>
          <p:cNvPr id="448" name="Google Shape;448;p72"/>
          <p:cNvPicPr preferRelativeResize="0"/>
          <p:nvPr/>
        </p:nvPicPr>
        <p:blipFill>
          <a:blip r:embed="rId3">
            <a:alphaModFix/>
          </a:blip>
          <a:stretch>
            <a:fillRect/>
          </a:stretch>
        </p:blipFill>
        <p:spPr>
          <a:xfrm>
            <a:off x="1643275" y="2043876"/>
            <a:ext cx="7715250" cy="30194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3"/>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Transformations and Actions in Spark</a:t>
            </a:r>
            <a:endParaRPr/>
          </a:p>
        </p:txBody>
      </p:sp>
      <p:sp>
        <p:nvSpPr>
          <p:cNvPr id="454" name="Google Shape;454;p73"/>
          <p:cNvSpPr txBox="1"/>
          <p:nvPr>
            <p:ph idx="1" type="body"/>
          </p:nvPr>
        </p:nvSpPr>
        <p:spPr>
          <a:xfrm>
            <a:off x="334963" y="1585913"/>
            <a:ext cx="11522075" cy="462015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latin typeface="Arial"/>
                <a:ea typeface="Arial"/>
                <a:cs typeface="Arial"/>
                <a:sym typeface="Arial"/>
              </a:rPr>
              <a:t>Transformations</a:t>
            </a:r>
            <a:r>
              <a:rPr b="0" i="0" lang="en-US">
                <a:solidFill>
                  <a:srgbClr val="0D0D0D"/>
                </a:solidFill>
                <a:highlight>
                  <a:srgbClr val="FFFFFF"/>
                </a:highlight>
                <a:latin typeface="Arial"/>
                <a:ea typeface="Arial"/>
                <a:cs typeface="Arial"/>
                <a:sym typeface="Arial"/>
              </a:rPr>
              <a:t>: Transformations are operations that create a new RDD by applying a function to each element of the original RDD. Examples of transformations include map, filter, flat Map, and sortBy Key.</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latin typeface="Arial"/>
                <a:ea typeface="Arial"/>
                <a:cs typeface="Arial"/>
                <a:sym typeface="Arial"/>
              </a:rPr>
              <a:t>Narrow Transformations</a:t>
            </a:r>
            <a:r>
              <a:rPr b="0" i="0" lang="en-US">
                <a:solidFill>
                  <a:srgbClr val="0D0D0D"/>
                </a:solidFill>
                <a:highlight>
                  <a:srgbClr val="FFFFFF"/>
                </a:highlight>
                <a:latin typeface="Arial"/>
                <a:ea typeface="Arial"/>
                <a:cs typeface="Arial"/>
                <a:sym typeface="Arial"/>
              </a:rPr>
              <a:t>: Narrow transformations produce RDDs where each output partition depends on only one input partition. Examples include map and filter, which can be executed in parallel without shuffling data across partitions.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latin typeface="Arial"/>
                <a:ea typeface="Arial"/>
                <a:cs typeface="Arial"/>
                <a:sym typeface="Arial"/>
              </a:rPr>
              <a:t>Wide Transformations</a:t>
            </a:r>
            <a:r>
              <a:rPr b="0" i="0" lang="en-US">
                <a:solidFill>
                  <a:srgbClr val="0D0D0D"/>
                </a:solidFill>
                <a:highlight>
                  <a:srgbClr val="FFFFFF"/>
                </a:highlight>
                <a:latin typeface="Arial"/>
                <a:ea typeface="Arial"/>
                <a:cs typeface="Arial"/>
                <a:sym typeface="Arial"/>
              </a:rPr>
              <a:t>: Wide transformations, also known as shuffle operations, require data to be shuffled across partitions. Examples include group By Key and join, which involve data reorganization and may incur network I/O.</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latin typeface="Arial"/>
                <a:ea typeface="Arial"/>
                <a:cs typeface="Arial"/>
                <a:sym typeface="Arial"/>
              </a:rPr>
              <a:t>Actions</a:t>
            </a:r>
            <a:r>
              <a:rPr b="0" i="0" lang="en-US">
                <a:solidFill>
                  <a:srgbClr val="0D0D0D"/>
                </a:solidFill>
                <a:highlight>
                  <a:srgbClr val="FFFFFF"/>
                </a:highlight>
                <a:latin typeface="Arial"/>
                <a:ea typeface="Arial"/>
                <a:cs typeface="Arial"/>
                <a:sym typeface="Arial"/>
              </a:rPr>
              <a:t>: Actions are operations that trigger the execution of transformations and return results to the driver program. Actions force the evaluation of RDDs and typically initiate the execution of the Spark job. Examples include count, collect, and save As Text File.</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latin typeface="Arial"/>
                <a:ea typeface="Arial"/>
                <a:cs typeface="Arial"/>
                <a:sym typeface="Arial"/>
              </a:rPr>
              <a:t>Lazy Evaluation</a:t>
            </a:r>
            <a:r>
              <a:rPr b="0" i="0" lang="en-US">
                <a:solidFill>
                  <a:srgbClr val="0D0D0D"/>
                </a:solidFill>
                <a:highlight>
                  <a:srgbClr val="FFFFFF"/>
                </a:highlight>
                <a:latin typeface="Arial"/>
                <a:ea typeface="Arial"/>
                <a:cs typeface="Arial"/>
                <a:sym typeface="Arial"/>
              </a:rPr>
              <a:t>: Spark uses lazy evaluation to optimize computation. Transformations are not executed immediately but are instead queued up until an action is called. This allows Spark to optimize execution plans and minimize unnecessary computations.</a:t>
            </a:r>
            <a:endParaRPr/>
          </a:p>
          <a:p>
            <a:pPr indent="-228600" lvl="0" marL="342900" rtl="0" algn="l">
              <a:spcBef>
                <a:spcPts val="360"/>
              </a:spcBef>
              <a:spcAft>
                <a:spcPts val="0"/>
              </a:spcAft>
              <a:buSzPts val="1800"/>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4"/>
          <p:cNvSpPr txBox="1"/>
          <p:nvPr>
            <p:ph type="title"/>
          </p:nvPr>
        </p:nvSpPr>
        <p:spPr>
          <a:xfrm>
            <a:off x="334963" y="234951"/>
            <a:ext cx="11522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Apache Spark Components</a:t>
            </a:r>
            <a:endParaRPr/>
          </a:p>
        </p:txBody>
      </p:sp>
      <p:pic>
        <p:nvPicPr>
          <p:cNvPr id="460" name="Google Shape;460;p74"/>
          <p:cNvPicPr preferRelativeResize="0"/>
          <p:nvPr/>
        </p:nvPicPr>
        <p:blipFill>
          <a:blip r:embed="rId3">
            <a:alphaModFix/>
          </a:blip>
          <a:stretch>
            <a:fillRect/>
          </a:stretch>
        </p:blipFill>
        <p:spPr>
          <a:xfrm>
            <a:off x="2769700" y="2060426"/>
            <a:ext cx="6324600" cy="30099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5"/>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Prerequisites for the Installation of PySpark</a:t>
            </a:r>
            <a:endParaRPr/>
          </a:p>
        </p:txBody>
      </p:sp>
      <p:sp>
        <p:nvSpPr>
          <p:cNvPr id="466" name="Google Shape;466;p75"/>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Python</a:t>
            </a:r>
            <a:r>
              <a:rPr i="0" lang="en-US">
                <a:solidFill>
                  <a:srgbClr val="0D0D0D"/>
                </a:solidFill>
                <a:highlight>
                  <a:srgbClr val="FFFFFF"/>
                </a:highlight>
              </a:rPr>
              <a:t>: Ensure Python is installed on your system. You can download Python from the official website or use a package manager like Anaconda.</a:t>
            </a:r>
            <a:endParaRPr i="0">
              <a:solidFill>
                <a:srgbClr val="0D0D0D"/>
              </a:solidFill>
              <a:highlight>
                <a:srgbClr val="FFFFFF"/>
              </a:highlight>
            </a:endParaRPr>
          </a:p>
          <a:p>
            <a:pPr indent="0" lvl="0" marL="0" rtl="0" algn="l">
              <a:spcBef>
                <a:spcPts val="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Java</a:t>
            </a:r>
            <a:r>
              <a:rPr i="0" lang="en-US">
                <a:solidFill>
                  <a:srgbClr val="0D0D0D"/>
                </a:solidFill>
                <a:highlight>
                  <a:srgbClr val="FFFFFF"/>
                </a:highlight>
              </a:rPr>
              <a:t>: PySpark relies on the Java Virtual Machine (JVM) for execution. Make sure you have Java Development Kit (JDK) installed on your system. PySpark typically works well with JDK 8 or later versions.</a:t>
            </a:r>
            <a:endParaRPr i="0">
              <a:solidFill>
                <a:srgbClr val="0D0D0D"/>
              </a:solidFill>
              <a:highlight>
                <a:srgbClr val="FFFFFF"/>
              </a:highlight>
            </a:endParaRPr>
          </a:p>
          <a:p>
            <a:pPr indent="0" lvl="0" marL="0" rtl="0" algn="l">
              <a:spcBef>
                <a:spcPts val="36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Apache Spark</a:t>
            </a:r>
            <a:r>
              <a:rPr i="0" lang="en-US">
                <a:solidFill>
                  <a:srgbClr val="0D0D0D"/>
                </a:solidFill>
                <a:highlight>
                  <a:srgbClr val="FFFFFF"/>
                </a:highlight>
              </a:rPr>
              <a:t>: PySpark is a Python API for Apache Spark. You need to have Apache Spark installed on your system. You can download Spark from the official website or use a package manager like Apache Hadoop.</a:t>
            </a:r>
            <a:endParaRPr/>
          </a:p>
          <a:p>
            <a:pPr indent="0" lvl="0" marL="0" rtl="0" algn="l">
              <a:spcBef>
                <a:spcPts val="360"/>
              </a:spcBef>
              <a:spcAft>
                <a:spcPts val="0"/>
              </a:spcAft>
              <a:buSzPts val="18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6"/>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Installation of PySpark</a:t>
            </a:r>
            <a:endParaRPr/>
          </a:p>
        </p:txBody>
      </p:sp>
      <p:sp>
        <p:nvSpPr>
          <p:cNvPr id="472" name="Google Shape;472;p76"/>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i="0" lang="en-US" sz="2200">
                <a:solidFill>
                  <a:srgbClr val="0D0D0D"/>
                </a:solidFill>
                <a:highlight>
                  <a:srgbClr val="FFFFFF"/>
                </a:highlight>
              </a:rPr>
              <a:t>Using pip</a:t>
            </a:r>
            <a:r>
              <a:rPr i="0" lang="en-US" sz="2200">
                <a:solidFill>
                  <a:srgbClr val="0D0D0D"/>
                </a:solidFill>
                <a:highlight>
                  <a:srgbClr val="FFFFFF"/>
                </a:highlight>
              </a:rPr>
              <a:t>: </a:t>
            </a:r>
            <a:endParaRPr i="0" sz="2200">
              <a:solidFill>
                <a:srgbClr val="0D0D0D"/>
              </a:solidFill>
              <a:highlight>
                <a:srgbClr val="FFFFFF"/>
              </a:highlight>
            </a:endParaRPr>
          </a:p>
          <a:p>
            <a:pPr indent="0" lvl="0" marL="342900" rtl="0" algn="l">
              <a:spcBef>
                <a:spcPts val="0"/>
              </a:spcBef>
              <a:spcAft>
                <a:spcPts val="0"/>
              </a:spcAft>
              <a:buNone/>
            </a:pPr>
            <a:r>
              <a:t/>
            </a:r>
            <a:endParaRPr>
              <a:solidFill>
                <a:srgbClr val="0D0D0D"/>
              </a:solidFill>
              <a:highlight>
                <a:srgbClr val="FFFFFF"/>
              </a:highlight>
            </a:endParaRPr>
          </a:p>
          <a:p>
            <a:pPr indent="0" lvl="0" marL="342900" rtl="0" algn="l">
              <a:spcBef>
                <a:spcPts val="0"/>
              </a:spcBef>
              <a:spcAft>
                <a:spcPts val="0"/>
              </a:spcAft>
              <a:buNone/>
            </a:pPr>
            <a:r>
              <a:rPr i="0" lang="en-US">
                <a:solidFill>
                  <a:srgbClr val="0D0D0D"/>
                </a:solidFill>
                <a:highlight>
                  <a:srgbClr val="FFFFFF"/>
                </a:highlight>
              </a:rPr>
              <a:t>You can install PySpark using pip, the Python package manager. Open a terminal or command prompt and run the following command: pip install pyspark</a:t>
            </a:r>
            <a:endParaRPr i="0">
              <a:solidFill>
                <a:srgbClr val="0D0D0D"/>
              </a:solidFill>
              <a:highlight>
                <a:srgbClr val="FFFFFF"/>
              </a:highlight>
            </a:endParaRPr>
          </a:p>
          <a:p>
            <a:pPr indent="0" lvl="0" marL="342900" rtl="0" algn="l">
              <a:spcBef>
                <a:spcPts val="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Char char="•"/>
            </a:pPr>
            <a:r>
              <a:rPr b="1" lang="en-US" sz="2200">
                <a:solidFill>
                  <a:srgbClr val="0D0D0D"/>
                </a:solidFill>
                <a:highlight>
                  <a:srgbClr val="FFFFFF"/>
                </a:highlight>
              </a:rPr>
              <a:t>Using Conda:</a:t>
            </a:r>
            <a:r>
              <a:rPr i="0" lang="en-US">
                <a:solidFill>
                  <a:srgbClr val="0D0D0D"/>
                </a:solidFill>
                <a:highlight>
                  <a:srgbClr val="FFFFFF"/>
                </a:highlight>
              </a:rPr>
              <a:t> </a:t>
            </a:r>
            <a:endParaRPr i="0">
              <a:solidFill>
                <a:srgbClr val="0D0D0D"/>
              </a:solidFill>
              <a:highlight>
                <a:srgbClr val="FFFFFF"/>
              </a:highlight>
            </a:endParaRPr>
          </a:p>
          <a:p>
            <a:pPr indent="0" lvl="0" marL="342900" rtl="0" algn="l">
              <a:spcBef>
                <a:spcPts val="360"/>
              </a:spcBef>
              <a:spcAft>
                <a:spcPts val="0"/>
              </a:spcAft>
              <a:buNone/>
            </a:pPr>
            <a:r>
              <a:t/>
            </a:r>
            <a:endParaRPr>
              <a:solidFill>
                <a:srgbClr val="0D0D0D"/>
              </a:solidFill>
              <a:highlight>
                <a:srgbClr val="FFFFFF"/>
              </a:highlight>
            </a:endParaRPr>
          </a:p>
          <a:p>
            <a:pPr indent="0" lvl="0" marL="342900" rtl="0" algn="l">
              <a:spcBef>
                <a:spcPts val="360"/>
              </a:spcBef>
              <a:spcAft>
                <a:spcPts val="0"/>
              </a:spcAft>
              <a:buNone/>
            </a:pPr>
            <a:r>
              <a:rPr i="0" lang="en-US">
                <a:solidFill>
                  <a:srgbClr val="0D0D0D"/>
                </a:solidFill>
                <a:highlight>
                  <a:srgbClr val="FFFFFF"/>
                </a:highlight>
              </a:rPr>
              <a:t>If you are using Anaconda, you can install PySpark using conda. Run the following command in Anaconda Prompt:</a:t>
            </a:r>
            <a:r>
              <a:rPr lang="en-US">
                <a:solidFill>
                  <a:srgbClr val="0D0D0D"/>
                </a:solidFill>
                <a:highlight>
                  <a:srgbClr val="FFFFFF"/>
                </a:highlight>
              </a:rPr>
              <a:t> conda install -c conda-forge pyspark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7"/>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Configuring PySpark for Local Development</a:t>
            </a:r>
            <a:endParaRPr/>
          </a:p>
        </p:txBody>
      </p:sp>
      <p:sp>
        <p:nvSpPr>
          <p:cNvPr id="478" name="Google Shape;478;p77"/>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lang="en-US"/>
              <a:t>Environment Variables</a:t>
            </a:r>
            <a:r>
              <a:rPr lang="en-US"/>
              <a:t>: Set up environment variables such as JAVA_HOME and SPARK_HOME pointing to the Java and Spark installations, respectively. These variables are necessary for PySpark to locate the required dependencies.</a:t>
            </a:r>
            <a:endParaRPr/>
          </a:p>
          <a:p>
            <a:pPr indent="0" lvl="0" marL="0" rtl="0" algn="l">
              <a:spcBef>
                <a:spcPts val="0"/>
              </a:spcBef>
              <a:spcAft>
                <a:spcPts val="0"/>
              </a:spcAft>
              <a:buNone/>
            </a:pPr>
            <a:r>
              <a:t/>
            </a:r>
            <a:endParaRPr/>
          </a:p>
          <a:p>
            <a:pPr indent="-342900" lvl="0" marL="342900" rtl="0" algn="l">
              <a:spcBef>
                <a:spcPts val="360"/>
              </a:spcBef>
              <a:spcAft>
                <a:spcPts val="0"/>
              </a:spcAft>
              <a:buSzPts val="1800"/>
              <a:buChar char="•"/>
            </a:pPr>
            <a:r>
              <a:rPr b="1" lang="en-US"/>
              <a:t>Python Environment</a:t>
            </a:r>
            <a:r>
              <a:rPr lang="en-US"/>
              <a:t>: Ensure that your Python environment is correctly configured to include PySpark in the PYTHONPATH. You may need to update the PYTHONPATH variable or modify your Python </a:t>
            </a:r>
            <a:r>
              <a:rPr lang="en-US"/>
              <a:t>interpreter</a:t>
            </a:r>
            <a:r>
              <a:rPr lang="en-US"/>
              <a:t> configuration file (e.g., .bashrc, .bash_profile, or .profile) to include the PySpark library.</a:t>
            </a:r>
            <a:endParaRPr/>
          </a:p>
          <a:p>
            <a:pPr indent="0" lvl="0" marL="0" rtl="0" algn="l">
              <a:spcBef>
                <a:spcPts val="360"/>
              </a:spcBef>
              <a:spcAft>
                <a:spcPts val="0"/>
              </a:spcAft>
              <a:buNone/>
            </a:pPr>
            <a:r>
              <a:t/>
            </a:r>
            <a:endParaRPr/>
          </a:p>
          <a:p>
            <a:pPr indent="-342900" lvl="0" marL="342900" rtl="0" algn="l">
              <a:spcBef>
                <a:spcPts val="360"/>
              </a:spcBef>
              <a:spcAft>
                <a:spcPts val="0"/>
              </a:spcAft>
              <a:buSzPts val="1800"/>
              <a:buChar char="•"/>
            </a:pPr>
            <a:r>
              <a:rPr b="1" lang="en-US"/>
              <a:t>Testing Installation</a:t>
            </a:r>
            <a:r>
              <a:rPr lang="en-US"/>
              <a:t>: After installation and configuration, test your PySpark setup by launching a Python interpreter and importing the pyspark module. If successful, you should be able to interact with PySpark APIs without errors.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8"/>
          <p:cNvSpPr txBox="1"/>
          <p:nvPr>
            <p:ph type="title"/>
          </p:nvPr>
        </p:nvSpPr>
        <p:spPr>
          <a:xfrm>
            <a:off x="334964" y="234951"/>
            <a:ext cx="923237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Why PySpark?</a:t>
            </a:r>
            <a:endParaRPr/>
          </a:p>
        </p:txBody>
      </p:sp>
      <p:sp>
        <p:nvSpPr>
          <p:cNvPr id="484" name="Google Shape;484;p78"/>
          <p:cNvSpPr txBox="1"/>
          <p:nvPr>
            <p:ph idx="1" type="body"/>
          </p:nvPr>
        </p:nvSpPr>
        <p:spPr>
          <a:xfrm>
            <a:off x="334963" y="1585913"/>
            <a:ext cx="11522075" cy="456935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Pythonic Syntax</a:t>
            </a:r>
            <a:r>
              <a:rPr i="0" lang="en-US">
                <a:solidFill>
                  <a:srgbClr val="0D0D0D"/>
                </a:solidFill>
                <a:highlight>
                  <a:srgbClr val="FFFFFF"/>
                </a:highlight>
              </a:rPr>
              <a:t>: PySpark provides a Pythonic interface for Apache Spark, making it accessible to Python developers. </a:t>
            </a:r>
            <a:endParaRPr i="0">
              <a:solidFill>
                <a:srgbClr val="0D0D0D"/>
              </a:solidFill>
              <a:highlight>
                <a:srgbClr val="FFFFFF"/>
              </a:highlight>
            </a:endParaRPr>
          </a:p>
          <a:p>
            <a:pPr indent="0" lvl="0" marL="0" rtl="0" algn="l">
              <a:spcBef>
                <a:spcPts val="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Integration with Python Ecosystem</a:t>
            </a:r>
            <a:r>
              <a:rPr i="0" lang="en-US">
                <a:solidFill>
                  <a:srgbClr val="0D0D0D"/>
                </a:solidFill>
                <a:highlight>
                  <a:srgbClr val="FFFFFF"/>
                </a:highlight>
              </a:rPr>
              <a:t>: PySpark seamlessly integrates with popular Python libraries such as Pandas, NumPy, and Matplotlib.</a:t>
            </a:r>
            <a:endParaRPr i="0">
              <a:solidFill>
                <a:srgbClr val="0D0D0D"/>
              </a:solidFill>
              <a:highlight>
                <a:srgbClr val="FFFFFF"/>
              </a:highlight>
            </a:endParaRPr>
          </a:p>
          <a:p>
            <a:pPr indent="0" lvl="0" marL="0" rtl="0" algn="l">
              <a:spcBef>
                <a:spcPts val="36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Large Developer Community</a:t>
            </a:r>
            <a:r>
              <a:rPr i="0" lang="en-US">
                <a:solidFill>
                  <a:srgbClr val="0D0D0D"/>
                </a:solidFill>
                <a:highlight>
                  <a:srgbClr val="FFFFFF"/>
                </a:highlight>
              </a:rPr>
              <a:t>: Python boasts a large and active developer community, which contributes to the growth and development of PySpark. </a:t>
            </a:r>
            <a:endParaRPr i="0">
              <a:solidFill>
                <a:srgbClr val="0D0D0D"/>
              </a:solidFill>
              <a:highlight>
                <a:srgbClr val="FFFFFF"/>
              </a:highlight>
            </a:endParaRPr>
          </a:p>
          <a:p>
            <a:pPr indent="0" lvl="0" marL="0" rtl="0" algn="l">
              <a:spcBef>
                <a:spcPts val="36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Flexible and Dynamic</a:t>
            </a:r>
            <a:r>
              <a:rPr i="0" lang="en-US">
                <a:solidFill>
                  <a:srgbClr val="0D0D0D"/>
                </a:solidFill>
                <a:highlight>
                  <a:srgbClr val="FFFFFF"/>
                </a:highlight>
              </a:rPr>
              <a:t>: Python's dynamic typing and flexibility allow for rapid prototyping and experimentation with data processing pipelines in PySpark. </a:t>
            </a:r>
            <a:endParaRPr i="0">
              <a:solidFill>
                <a:srgbClr val="0D0D0D"/>
              </a:solidFill>
              <a:highlight>
                <a:srgbClr val="FFFFFF"/>
              </a:highlight>
            </a:endParaRPr>
          </a:p>
          <a:p>
            <a:pPr indent="0" lvl="0" marL="0" rtl="0" algn="l">
              <a:spcBef>
                <a:spcPts val="360"/>
              </a:spcBef>
              <a:spcAft>
                <a:spcPts val="0"/>
              </a:spcAft>
              <a:buNone/>
            </a:pPr>
            <a:r>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Interactive Data Exploration</a:t>
            </a:r>
            <a:r>
              <a:rPr i="0" lang="en-US">
                <a:solidFill>
                  <a:srgbClr val="0D0D0D"/>
                </a:solidFill>
                <a:highlight>
                  <a:srgbClr val="FFFFFF"/>
                </a:highlight>
              </a:rPr>
              <a:t>: PySpark's interactive shell (PySpark Shell or pyspark) enables interactive data exploration and experimentation directly from the command line or Jupyter notebooks.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9"/>
          <p:cNvSpPr txBox="1"/>
          <p:nvPr>
            <p:ph type="title"/>
          </p:nvPr>
        </p:nvSpPr>
        <p:spPr>
          <a:xfrm>
            <a:off x="334964" y="234951"/>
            <a:ext cx="61335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PySpark Compared to Other Spark APIs</a:t>
            </a:r>
            <a:endParaRPr/>
          </a:p>
        </p:txBody>
      </p:sp>
      <p:sp>
        <p:nvSpPr>
          <p:cNvPr id="490" name="Google Shape;490;p79"/>
          <p:cNvSpPr txBox="1"/>
          <p:nvPr>
            <p:ph idx="1" type="body"/>
          </p:nvPr>
        </p:nvSpPr>
        <p:spPr>
          <a:xfrm>
            <a:off x="334963" y="1585913"/>
            <a:ext cx="11522100"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Ease of Learning</a:t>
            </a:r>
            <a:r>
              <a:rPr i="0" lang="en-US">
                <a:solidFill>
                  <a:srgbClr val="0D0D0D"/>
                </a:solidFill>
                <a:highlight>
                  <a:srgbClr val="FFFFFF"/>
                </a:highlight>
              </a:rPr>
              <a:t>: PySpark's </a:t>
            </a:r>
            <a:r>
              <a:rPr lang="en-US">
                <a:solidFill>
                  <a:srgbClr val="0D0D0D"/>
                </a:solidFill>
                <a:highlight>
                  <a:srgbClr val="FFFFFF"/>
                </a:highlight>
              </a:rPr>
              <a:t>Pythonic</a:t>
            </a:r>
            <a:r>
              <a:rPr i="0" lang="en-US">
                <a:solidFill>
                  <a:srgbClr val="0D0D0D"/>
                </a:solidFill>
                <a:highlight>
                  <a:srgbClr val="FFFFFF"/>
                </a:highlight>
              </a:rPr>
              <a:t> syntax and familiarity with Python make it easier to learn.</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Integration with Python Ecosystem</a:t>
            </a:r>
            <a:r>
              <a:rPr i="0" lang="en-US">
                <a:solidFill>
                  <a:srgbClr val="0D0D0D"/>
                </a:solidFill>
                <a:highlight>
                  <a:srgbClr val="FFFFFF"/>
                </a:highlight>
              </a:rPr>
              <a:t>: PySpark seamlessly integrates with the vast ecosystem of Python libraries.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Productivity and Rapid Prototyping</a:t>
            </a:r>
            <a:r>
              <a:rPr i="0" lang="en-US">
                <a:solidFill>
                  <a:srgbClr val="0D0D0D"/>
                </a:solidFill>
                <a:highlight>
                  <a:srgbClr val="FFFFFF"/>
                </a:highlight>
              </a:rPr>
              <a:t>: Python's dynamic nature and concise syntax enhance productivity and enable rapid prototyping in PySpark. </a:t>
            </a:r>
            <a:endParaRPr>
              <a:solidFill>
                <a:srgbClr val="0D0D0D"/>
              </a:solidFill>
              <a:highlight>
                <a:srgbClr val="FFFFFF"/>
              </a:highlight>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Performance</a:t>
            </a:r>
            <a:r>
              <a:rPr i="0" lang="en-US">
                <a:solidFill>
                  <a:srgbClr val="0D0D0D"/>
                </a:solidFill>
                <a:highlight>
                  <a:srgbClr val="FFFFFF"/>
                </a:highlight>
              </a:rPr>
              <a:t>: While Scala may offer slightly better performance due to its static typing and JVM optimization.</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Community Support</a:t>
            </a:r>
            <a:r>
              <a:rPr i="0" lang="en-US">
                <a:solidFill>
                  <a:srgbClr val="0D0D0D"/>
                </a:solidFill>
                <a:highlight>
                  <a:srgbClr val="FFFFFF"/>
                </a:highlight>
              </a:rPr>
              <a:t>: Python has a large and active developer community, providing extensive resources, tutorials, and community support for PySpark.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0"/>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Using PySpark for Big Data Analysis and Processing</a:t>
            </a:r>
            <a:endParaRPr/>
          </a:p>
        </p:txBody>
      </p:sp>
      <p:sp>
        <p:nvSpPr>
          <p:cNvPr id="496" name="Google Shape;496;p80"/>
          <p:cNvSpPr txBox="1"/>
          <p:nvPr>
            <p:ph idx="1" type="body"/>
          </p:nvPr>
        </p:nvSpPr>
        <p:spPr>
          <a:xfrm>
            <a:off x="334963" y="1585913"/>
            <a:ext cx="11522100" cy="4544100"/>
          </a:xfrm>
          <a:prstGeom prst="rect">
            <a:avLst/>
          </a:prstGeom>
          <a:noFill/>
          <a:ln>
            <a:noFill/>
          </a:ln>
        </p:spPr>
        <p:txBody>
          <a:bodyPr anchorCtr="0" anchor="t" bIns="45700" lIns="91425" spcFirstLastPara="1" rIns="91425" wrap="square" tIns="45700">
            <a:noAutofit/>
          </a:bodyPr>
          <a:lstStyle/>
          <a:p>
            <a:pPr indent="-342900" lvl="0" marL="342900" rtl="0" algn="l">
              <a:lnSpc>
                <a:spcPct val="125000"/>
              </a:lnSpc>
              <a:spcBef>
                <a:spcPts val="0"/>
              </a:spcBef>
              <a:spcAft>
                <a:spcPts val="0"/>
              </a:spcAft>
              <a:buSzPts val="1800"/>
              <a:buFont typeface="Arial"/>
              <a:buAutoNum type="arabicPeriod"/>
            </a:pPr>
            <a:r>
              <a:rPr b="1" i="0" lang="en-US">
                <a:solidFill>
                  <a:srgbClr val="0D0D0D"/>
                </a:solidFill>
                <a:highlight>
                  <a:srgbClr val="FFFFFF"/>
                </a:highlight>
              </a:rPr>
              <a:t>Scalable Data Processing</a:t>
            </a:r>
            <a:r>
              <a:rPr i="0" lang="en-US">
                <a:solidFill>
                  <a:srgbClr val="0D0D0D"/>
                </a:solidFill>
                <a:highlight>
                  <a:srgbClr val="FFFFFF"/>
                </a:highlight>
              </a:rPr>
              <a:t>: PySpark enables scalable processing of large-scale datasets by leveraging Spark's distributed computing capabilities. </a:t>
            </a:r>
            <a:endParaRPr>
              <a:solidFill>
                <a:srgbClr val="0D0D0D"/>
              </a:solidFill>
              <a:highlight>
                <a:srgbClr val="FFFFFF"/>
              </a:highlight>
            </a:endParaRPr>
          </a:p>
          <a:p>
            <a:pPr indent="-342900" lvl="0" marL="342900" rtl="0" algn="l">
              <a:lnSpc>
                <a:spcPct val="125000"/>
              </a:lnSpc>
              <a:spcBef>
                <a:spcPts val="0"/>
              </a:spcBef>
              <a:spcAft>
                <a:spcPts val="0"/>
              </a:spcAft>
              <a:buSzPts val="1800"/>
              <a:buFont typeface="Arial"/>
              <a:buAutoNum type="arabicPeriod"/>
            </a:pPr>
            <a:r>
              <a:rPr b="1" i="0" lang="en-US">
                <a:solidFill>
                  <a:srgbClr val="0D0D0D"/>
                </a:solidFill>
                <a:highlight>
                  <a:srgbClr val="FFFFFF"/>
                </a:highlight>
              </a:rPr>
              <a:t>Data Transformation and Cleaning</a:t>
            </a:r>
            <a:r>
              <a:rPr i="0" lang="en-US">
                <a:solidFill>
                  <a:srgbClr val="0D0D0D"/>
                </a:solidFill>
                <a:highlight>
                  <a:srgbClr val="FFFFFF"/>
                </a:highlight>
              </a:rPr>
              <a:t>: PySpark provides powerful APIs for data transformation and cleaning, allowing users to preprocess raw data, filter out anomalies, and prepare data for downstream analysis or machine learning.</a:t>
            </a:r>
            <a:endParaRPr/>
          </a:p>
          <a:p>
            <a:pPr indent="-342900" lvl="0" marL="342900" rtl="0" algn="l">
              <a:lnSpc>
                <a:spcPct val="125000"/>
              </a:lnSpc>
              <a:spcBef>
                <a:spcPts val="0"/>
              </a:spcBef>
              <a:spcAft>
                <a:spcPts val="0"/>
              </a:spcAft>
              <a:buSzPts val="1800"/>
              <a:buFont typeface="Arial"/>
              <a:buAutoNum type="arabicPeriod"/>
            </a:pPr>
            <a:r>
              <a:rPr b="1" i="0" lang="en-US">
                <a:solidFill>
                  <a:srgbClr val="0D0D0D"/>
                </a:solidFill>
                <a:highlight>
                  <a:srgbClr val="FFFFFF"/>
                </a:highlight>
              </a:rPr>
              <a:t>Advanced Analytics</a:t>
            </a:r>
            <a:r>
              <a:rPr i="0" lang="en-US">
                <a:solidFill>
                  <a:srgbClr val="0D0D0D"/>
                </a:solidFill>
                <a:highlight>
                  <a:srgbClr val="FFFFFF"/>
                </a:highlight>
              </a:rPr>
              <a:t>: With PySpark, users can perform advanced analytics tasks such as statistical analysis, predictive modeling, and machine learning on big data. </a:t>
            </a:r>
            <a:endParaRPr>
              <a:solidFill>
                <a:srgbClr val="0D0D0D"/>
              </a:solidFill>
              <a:highlight>
                <a:srgbClr val="FFFFFF"/>
              </a:highlight>
            </a:endParaRPr>
          </a:p>
          <a:p>
            <a:pPr indent="-342900" lvl="0" marL="342900" rtl="0" algn="l">
              <a:lnSpc>
                <a:spcPct val="125000"/>
              </a:lnSpc>
              <a:spcBef>
                <a:spcPts val="0"/>
              </a:spcBef>
              <a:spcAft>
                <a:spcPts val="0"/>
              </a:spcAft>
              <a:buSzPts val="1800"/>
              <a:buFont typeface="Arial"/>
              <a:buAutoNum type="arabicPeriod"/>
            </a:pPr>
            <a:r>
              <a:rPr b="1" i="0" lang="en-US">
                <a:solidFill>
                  <a:srgbClr val="0D0D0D"/>
                </a:solidFill>
                <a:highlight>
                  <a:srgbClr val="FFFFFF"/>
                </a:highlight>
              </a:rPr>
              <a:t>Real-time Stream Processing</a:t>
            </a:r>
            <a:r>
              <a:rPr i="0" lang="en-US">
                <a:solidFill>
                  <a:srgbClr val="0D0D0D"/>
                </a:solidFill>
                <a:highlight>
                  <a:srgbClr val="FFFFFF"/>
                </a:highlight>
              </a:rPr>
              <a:t>: PySpark Streaming enables real-time stream processing of data streams from various sources such as Kafka, Flume, and TCP sockets. </a:t>
            </a:r>
            <a:endParaRPr>
              <a:solidFill>
                <a:srgbClr val="0D0D0D"/>
              </a:solidFill>
              <a:highlight>
                <a:srgbClr val="FFFFFF"/>
              </a:highlight>
            </a:endParaRPr>
          </a:p>
          <a:p>
            <a:pPr indent="-342900" lvl="0" marL="342900" rtl="0" algn="l">
              <a:lnSpc>
                <a:spcPct val="125000"/>
              </a:lnSpc>
              <a:spcBef>
                <a:spcPts val="0"/>
              </a:spcBef>
              <a:spcAft>
                <a:spcPts val="0"/>
              </a:spcAft>
              <a:buSzPts val="1800"/>
              <a:buFont typeface="Arial"/>
              <a:buAutoNum type="arabicPeriod"/>
            </a:pPr>
            <a:r>
              <a:rPr b="1" i="0" lang="en-US">
                <a:solidFill>
                  <a:srgbClr val="0D0D0D"/>
                </a:solidFill>
                <a:highlight>
                  <a:srgbClr val="FFFFFF"/>
                </a:highlight>
              </a:rPr>
              <a:t>Graph Processing</a:t>
            </a:r>
            <a:r>
              <a:rPr i="0" lang="en-US">
                <a:solidFill>
                  <a:srgbClr val="0D0D0D"/>
                </a:solidFill>
                <a:highlight>
                  <a:srgbClr val="FFFFFF"/>
                </a:highlight>
              </a:rPr>
              <a:t>: PySpark GraphX provides APIs for graph processing and analysis, allowing users to model and analyze complex relationships and networks within large-scale datasets.</a:t>
            </a:r>
            <a:endParaRPr/>
          </a:p>
          <a:p>
            <a:pPr indent="0" lvl="0" marL="0" rtl="0" algn="l">
              <a:spcBef>
                <a:spcPts val="360"/>
              </a:spcBef>
              <a:spcAft>
                <a:spcPts val="0"/>
              </a:spcAft>
              <a:buSzPts val="1800"/>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1"/>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SparkSession and SparkContext</a:t>
            </a:r>
            <a:endParaRPr/>
          </a:p>
        </p:txBody>
      </p:sp>
      <p:sp>
        <p:nvSpPr>
          <p:cNvPr id="502" name="Google Shape;502;p81"/>
          <p:cNvSpPr txBox="1"/>
          <p:nvPr>
            <p:ph idx="1" type="body"/>
          </p:nvPr>
        </p:nvSpPr>
        <p:spPr>
          <a:xfrm>
            <a:off x="977275" y="1755900"/>
            <a:ext cx="4803900" cy="2712300"/>
          </a:xfrm>
          <a:prstGeom prst="rect">
            <a:avLst/>
          </a:prstGeom>
          <a:solidFill>
            <a:srgbClr val="0C7D2C"/>
          </a:solid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b="1" i="0" lang="en-US">
                <a:solidFill>
                  <a:schemeClr val="lt1"/>
                </a:solidFill>
              </a:rPr>
              <a:t>SparkContext (sc):</a:t>
            </a:r>
            <a:r>
              <a:rPr i="0" lang="en-US">
                <a:solidFill>
                  <a:schemeClr val="lt1"/>
                </a:solidFill>
              </a:rPr>
              <a:t> SparkContext is the entry point to any Spark functionality. It represents the connection to a Spark cluster and coordinates the execution of Spark jobs. In older versions of Spark, SparkContext was the primary entry point for Spark applications.</a:t>
            </a:r>
            <a:endParaRPr>
              <a:solidFill>
                <a:schemeClr val="lt1"/>
              </a:solidFill>
            </a:endParaRPr>
          </a:p>
          <a:p>
            <a:pPr indent="-342900" lvl="0" marL="342900" rtl="0" algn="l">
              <a:spcBef>
                <a:spcPts val="360"/>
              </a:spcBef>
              <a:spcAft>
                <a:spcPts val="0"/>
              </a:spcAft>
              <a:buClr>
                <a:schemeClr val="lt1"/>
              </a:buClr>
              <a:buSzPts val="1800"/>
              <a:buFont typeface="Arial"/>
              <a:buAutoNum type="arabicPeriod"/>
            </a:pPr>
            <a:r>
              <a:t/>
            </a:r>
            <a:endParaRPr>
              <a:solidFill>
                <a:schemeClr val="lt1"/>
              </a:solidFill>
            </a:endParaRPr>
          </a:p>
          <a:p>
            <a:pPr indent="0" lvl="0" marL="0" rtl="0" algn="l">
              <a:spcBef>
                <a:spcPts val="360"/>
              </a:spcBef>
              <a:spcAft>
                <a:spcPts val="0"/>
              </a:spcAft>
              <a:buSzPts val="1800"/>
              <a:buNone/>
            </a:pPr>
            <a:r>
              <a:t/>
            </a:r>
            <a:endParaRPr>
              <a:solidFill>
                <a:schemeClr val="lt1"/>
              </a:solidFill>
            </a:endParaRPr>
          </a:p>
        </p:txBody>
      </p:sp>
      <p:sp>
        <p:nvSpPr>
          <p:cNvPr id="503" name="Google Shape;503;p81"/>
          <p:cNvSpPr txBox="1"/>
          <p:nvPr/>
        </p:nvSpPr>
        <p:spPr>
          <a:xfrm>
            <a:off x="6062875" y="1755900"/>
            <a:ext cx="4803900" cy="2712300"/>
          </a:xfrm>
          <a:prstGeom prst="rect">
            <a:avLst/>
          </a:prstGeom>
          <a:solidFill>
            <a:srgbClr val="0000FF"/>
          </a:solidFill>
          <a:ln>
            <a:noFill/>
          </a:ln>
        </p:spPr>
        <p:txBody>
          <a:bodyPr anchorCtr="0" anchor="t" bIns="91425" lIns="91425" spcFirstLastPara="1" rIns="91425" wrap="square" tIns="91425">
            <a:noAutofit/>
          </a:bodyPr>
          <a:lstStyle/>
          <a:p>
            <a:pPr indent="0" lvl="0" marL="342900" rtl="0" algn="l">
              <a:spcBef>
                <a:spcPts val="360"/>
              </a:spcBef>
              <a:spcAft>
                <a:spcPts val="0"/>
              </a:spcAft>
              <a:buNone/>
            </a:pPr>
            <a:r>
              <a:rPr b="1" lang="en-US" sz="1800">
                <a:solidFill>
                  <a:schemeClr val="lt1"/>
                </a:solidFill>
                <a:latin typeface="Lato"/>
                <a:ea typeface="Lato"/>
                <a:cs typeface="Lato"/>
                <a:sym typeface="Lato"/>
              </a:rPr>
              <a:t>SparkSession:</a:t>
            </a:r>
            <a:r>
              <a:rPr lang="en-US" sz="1800">
                <a:solidFill>
                  <a:schemeClr val="lt1"/>
                </a:solidFill>
                <a:latin typeface="Lato"/>
                <a:ea typeface="Lato"/>
                <a:cs typeface="Lato"/>
                <a:sym typeface="Lato"/>
              </a:rPr>
              <a:t> SparkSession is introduced in Spark 2.0 as a unified entry point for interacting with Spark functionality. It encapsulates SparkContext and provides a simplified API for working with Spark features. SparkSession is used to create DataFrames, interact with Spark SQL, and execute Spark jobs.</a:t>
            </a:r>
            <a:endParaRPr sz="1800">
              <a:solidFill>
                <a:srgbClr val="262626"/>
              </a:solidFill>
              <a:latin typeface="Lato"/>
              <a:ea typeface="Lato"/>
              <a:cs typeface="Lato"/>
              <a:sym typeface="La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2"/>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0D0D0D"/>
                </a:solidFill>
                <a:highlight>
                  <a:srgbClr val="FFFFFF"/>
                </a:highlight>
                <a:latin typeface="Helvetica Neue"/>
                <a:ea typeface="Helvetica Neue"/>
                <a:cs typeface="Helvetica Neue"/>
                <a:sym typeface="Helvetica Neue"/>
              </a:rPr>
              <a:t>The Main Data Structures in PySpark</a:t>
            </a:r>
            <a:endParaRPr>
              <a:latin typeface="Helvetica Neue"/>
              <a:ea typeface="Helvetica Neue"/>
              <a:cs typeface="Helvetica Neue"/>
              <a:sym typeface="Helvetica Neue"/>
            </a:endParaRPr>
          </a:p>
        </p:txBody>
      </p:sp>
      <p:sp>
        <p:nvSpPr>
          <p:cNvPr id="509" name="Google Shape;509;p82"/>
          <p:cNvSpPr txBox="1"/>
          <p:nvPr>
            <p:ph idx="1" type="body"/>
          </p:nvPr>
        </p:nvSpPr>
        <p:spPr>
          <a:xfrm>
            <a:off x="977275" y="1755900"/>
            <a:ext cx="4803900" cy="2712300"/>
          </a:xfrm>
          <a:prstGeom prst="rect">
            <a:avLst/>
          </a:prstGeom>
          <a:solidFill>
            <a:srgbClr val="E06666"/>
          </a:solidFill>
          <a:ln>
            <a:noFill/>
          </a:ln>
        </p:spPr>
        <p:txBody>
          <a:bodyPr anchorCtr="0" anchor="t" bIns="45700" lIns="91425" spcFirstLastPara="1" rIns="91425" wrap="square" tIns="45700">
            <a:noAutofit/>
          </a:bodyPr>
          <a:lstStyle/>
          <a:p>
            <a:pPr indent="0" lvl="0" marL="342900" rtl="0" algn="l">
              <a:spcBef>
                <a:spcPts val="0"/>
              </a:spcBef>
              <a:spcAft>
                <a:spcPts val="0"/>
              </a:spcAft>
              <a:buNone/>
            </a:pPr>
            <a:r>
              <a:rPr b="1" lang="en-US">
                <a:solidFill>
                  <a:schemeClr val="lt1"/>
                </a:solidFill>
              </a:rPr>
              <a:t>DataFrames: </a:t>
            </a:r>
            <a:r>
              <a:rPr lang="en-US">
                <a:solidFill>
                  <a:schemeClr val="lt1"/>
                </a:solidFill>
              </a:rPr>
              <a:t>DataFrames are distributed collections of structured data organized into named columns. They are similar to tables in relational databases or data frames in R/Python Pandas. DataFrames provide a higher-level API for working with structured data and are optimized for both batch and interactive processing</a:t>
            </a:r>
            <a:r>
              <a:rPr b="1" lang="en-US">
                <a:solidFill>
                  <a:schemeClr val="lt1"/>
                </a:solidFill>
              </a:rPr>
              <a:t>.</a:t>
            </a:r>
            <a:endParaRPr>
              <a:solidFill>
                <a:schemeClr val="lt1"/>
              </a:solidFill>
            </a:endParaRPr>
          </a:p>
          <a:p>
            <a:pPr indent="0" lvl="0" marL="342900" rtl="0" algn="l">
              <a:spcBef>
                <a:spcPts val="360"/>
              </a:spcBef>
              <a:spcAft>
                <a:spcPts val="0"/>
              </a:spcAft>
              <a:buNone/>
            </a:pPr>
            <a:r>
              <a:t/>
            </a:r>
            <a:endParaRPr>
              <a:solidFill>
                <a:schemeClr val="lt1"/>
              </a:solidFill>
            </a:endParaRPr>
          </a:p>
          <a:p>
            <a:pPr indent="0" lvl="0" marL="0" rtl="0" algn="l">
              <a:spcBef>
                <a:spcPts val="360"/>
              </a:spcBef>
              <a:spcAft>
                <a:spcPts val="0"/>
              </a:spcAft>
              <a:buSzPts val="1800"/>
              <a:buNone/>
            </a:pPr>
            <a:r>
              <a:t/>
            </a:r>
            <a:endParaRPr>
              <a:solidFill>
                <a:schemeClr val="lt1"/>
              </a:solidFill>
            </a:endParaRPr>
          </a:p>
        </p:txBody>
      </p:sp>
      <p:sp>
        <p:nvSpPr>
          <p:cNvPr id="510" name="Google Shape;510;p82"/>
          <p:cNvSpPr txBox="1"/>
          <p:nvPr/>
        </p:nvSpPr>
        <p:spPr>
          <a:xfrm>
            <a:off x="6062875" y="1755900"/>
            <a:ext cx="5019300" cy="2712300"/>
          </a:xfrm>
          <a:prstGeom prst="rect">
            <a:avLst/>
          </a:prstGeom>
          <a:solidFill>
            <a:srgbClr val="6D9EEB"/>
          </a:solidFill>
          <a:ln>
            <a:noFill/>
          </a:ln>
        </p:spPr>
        <p:txBody>
          <a:bodyPr anchorCtr="0" anchor="t" bIns="91425" lIns="91425" spcFirstLastPara="1" rIns="91425" wrap="square" tIns="91425">
            <a:noAutofit/>
          </a:bodyPr>
          <a:lstStyle/>
          <a:p>
            <a:pPr indent="0" lvl="0" marL="342900" rtl="0" algn="l">
              <a:spcBef>
                <a:spcPts val="360"/>
              </a:spcBef>
              <a:spcAft>
                <a:spcPts val="0"/>
              </a:spcAft>
              <a:buNone/>
            </a:pPr>
            <a:r>
              <a:rPr b="1" lang="en-US" sz="1800">
                <a:solidFill>
                  <a:schemeClr val="lt1"/>
                </a:solidFill>
                <a:latin typeface="Lato"/>
                <a:ea typeface="Lato"/>
                <a:cs typeface="Lato"/>
                <a:sym typeface="Lato"/>
              </a:rPr>
              <a:t>Datasets: </a:t>
            </a:r>
            <a:r>
              <a:rPr lang="en-US" sz="1800">
                <a:solidFill>
                  <a:schemeClr val="lt1"/>
                </a:solidFill>
                <a:latin typeface="Lato"/>
                <a:ea typeface="Lato"/>
                <a:cs typeface="Lato"/>
                <a:sym typeface="Lato"/>
              </a:rPr>
              <a:t>Datasets are a newer addition to Spark and represent a distributed collection of data with strong typing. Datasets combine the benefits of DataFrames with the advantages of strong typing, allowing for type-safe, object-oriented programming constructs. Datasets are available in both Java and Scala, but in PySpark, Datasets are represented as DataFrames.</a:t>
            </a:r>
            <a:endParaRPr sz="1800">
              <a:solidFill>
                <a:srgbClr val="262626"/>
              </a:solidFill>
              <a:latin typeface="Lato"/>
              <a:ea typeface="Lato"/>
              <a:cs typeface="Lato"/>
              <a:sym typeface="La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3"/>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Reading and Writing Data with PySpark</a:t>
            </a:r>
            <a:endParaRPr/>
          </a:p>
        </p:txBody>
      </p:sp>
      <p:sp>
        <p:nvSpPr>
          <p:cNvPr id="516" name="Google Shape;516;p83"/>
          <p:cNvSpPr txBox="1"/>
          <p:nvPr>
            <p:ph idx="1" type="body"/>
          </p:nvPr>
        </p:nvSpPr>
        <p:spPr>
          <a:xfrm>
            <a:off x="334963" y="1585913"/>
            <a:ext cx="11522100" cy="459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lang="en-US"/>
              <a:t>Reading Data</a:t>
            </a:r>
            <a:r>
              <a:rPr lang="en-US"/>
              <a:t>: You can use methods like spark.read.csv(), spark.read.json(), spark.read.jdbc(), etc., to read data into DataFrames.</a:t>
            </a:r>
            <a:endParaRPr/>
          </a:p>
          <a:p>
            <a:pPr indent="-342900" lvl="0" marL="342900" rtl="0" algn="l">
              <a:spcBef>
                <a:spcPts val="360"/>
              </a:spcBef>
              <a:spcAft>
                <a:spcPts val="0"/>
              </a:spcAft>
              <a:buSzPts val="1800"/>
              <a:buChar char="•"/>
            </a:pPr>
            <a:r>
              <a:rPr b="1" lang="en-US"/>
              <a:t>Writing Data</a:t>
            </a:r>
            <a:r>
              <a:rPr lang="en-US"/>
              <a:t>: Similarly, PySpark allows you to write data to different output formats and destinations using methods like DataFrame.write.format(). </a:t>
            </a:r>
            <a:endParaRPr/>
          </a:p>
          <a:p>
            <a:pPr indent="0" lvl="0" marL="0" rtl="0" algn="l">
              <a:spcBef>
                <a:spcPts val="360"/>
              </a:spcBef>
              <a:spcAft>
                <a:spcPts val="0"/>
              </a:spcAft>
              <a:buNone/>
            </a:pPr>
            <a:r>
              <a:t/>
            </a:r>
            <a:endParaRPr/>
          </a:p>
          <a:p>
            <a:pPr indent="0" lvl="0" marL="0" rtl="0" algn="l">
              <a:spcBef>
                <a:spcPts val="360"/>
              </a:spcBef>
              <a:spcAft>
                <a:spcPts val="0"/>
              </a:spcAft>
              <a:buNone/>
            </a:pPr>
            <a:r>
              <a:rPr b="1" lang="en-US"/>
              <a:t>Example</a:t>
            </a:r>
            <a:r>
              <a:rPr lang="en-US"/>
              <a:t>: </a:t>
            </a:r>
            <a:endParaRPr/>
          </a:p>
        </p:txBody>
      </p:sp>
      <p:pic>
        <p:nvPicPr>
          <p:cNvPr id="517" name="Google Shape;517;p83"/>
          <p:cNvPicPr preferRelativeResize="0"/>
          <p:nvPr/>
        </p:nvPicPr>
        <p:blipFill rotWithShape="1">
          <a:blip r:embed="rId3">
            <a:alphaModFix/>
          </a:blip>
          <a:srcRect b="0" l="0" r="0" t="0"/>
          <a:stretch/>
        </p:blipFill>
        <p:spPr>
          <a:xfrm>
            <a:off x="2309558" y="3411684"/>
            <a:ext cx="6900335" cy="219286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4"/>
          <p:cNvSpPr txBox="1"/>
          <p:nvPr>
            <p:ph type="title"/>
          </p:nvPr>
        </p:nvSpPr>
        <p:spPr>
          <a:xfrm>
            <a:off x="334964" y="234951"/>
            <a:ext cx="9122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Data Cleansing and Manipulation with DataFrames</a:t>
            </a:r>
            <a:endParaRPr/>
          </a:p>
        </p:txBody>
      </p:sp>
      <p:sp>
        <p:nvSpPr>
          <p:cNvPr id="523" name="Google Shape;523;p84"/>
          <p:cNvSpPr txBox="1"/>
          <p:nvPr>
            <p:ph idx="1" type="body"/>
          </p:nvPr>
        </p:nvSpPr>
        <p:spPr>
          <a:xfrm>
            <a:off x="334963" y="1585913"/>
            <a:ext cx="11522100" cy="4603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lang="en-US"/>
              <a:t>Missing Values Handling</a:t>
            </a:r>
            <a:r>
              <a:rPr lang="en-US"/>
              <a:t>: provides methods to handle missing or null values in DataFrames, such as </a:t>
            </a:r>
            <a:r>
              <a:rPr b="1" lang="en-US"/>
              <a:t>na.drop() </a:t>
            </a:r>
            <a:r>
              <a:rPr lang="en-US"/>
              <a:t>to drop rows with null values,</a:t>
            </a:r>
            <a:r>
              <a:rPr b="1" lang="en-US"/>
              <a:t> na.fill()</a:t>
            </a:r>
            <a:r>
              <a:rPr lang="en-US"/>
              <a:t> to fill null values with specified values, and </a:t>
            </a:r>
            <a:r>
              <a:rPr b="1" lang="en-US"/>
              <a:t>na.replace()</a:t>
            </a:r>
            <a:r>
              <a:rPr lang="en-US"/>
              <a:t> to replace null values with custom values.</a:t>
            </a:r>
            <a:endParaRPr/>
          </a:p>
          <a:p>
            <a:pPr indent="-342900" lvl="0" marL="342900" rtl="0" algn="l">
              <a:spcBef>
                <a:spcPts val="360"/>
              </a:spcBef>
              <a:spcAft>
                <a:spcPts val="0"/>
              </a:spcAft>
              <a:buSzPts val="1800"/>
              <a:buChar char="•"/>
            </a:pPr>
            <a:r>
              <a:rPr b="1" lang="en-US"/>
              <a:t>Column Operations</a:t>
            </a:r>
            <a:r>
              <a:rPr lang="en-US"/>
              <a:t>: support various column operations, including adding new columns with calculated values using arithmetic or string manipulation, renaming columns using with </a:t>
            </a:r>
            <a:r>
              <a:rPr b="1" lang="en-US"/>
              <a:t>ColumnRenamed()</a:t>
            </a:r>
            <a:r>
              <a:rPr lang="en-US"/>
              <a:t>, and dropping columns with </a:t>
            </a:r>
            <a:r>
              <a:rPr b="1" lang="en-US"/>
              <a:t>drop()</a:t>
            </a:r>
            <a:r>
              <a:rPr lang="en-US"/>
              <a:t>.</a:t>
            </a:r>
            <a:endParaRPr/>
          </a:p>
          <a:p>
            <a:pPr indent="-342900" lvl="0" marL="342900" rtl="0" algn="l">
              <a:spcBef>
                <a:spcPts val="360"/>
              </a:spcBef>
              <a:spcAft>
                <a:spcPts val="0"/>
              </a:spcAft>
              <a:buSzPts val="1800"/>
              <a:buChar char="•"/>
            </a:pPr>
            <a:r>
              <a:rPr b="1" lang="en-US"/>
              <a:t>Filtering Data</a:t>
            </a:r>
            <a:r>
              <a:rPr lang="en-US"/>
              <a:t>: </a:t>
            </a:r>
            <a:r>
              <a:rPr lang="en-US"/>
              <a:t> filtering of Data Frame rows based on specified conditions using methods like </a:t>
            </a:r>
            <a:r>
              <a:rPr b="1" lang="en-US"/>
              <a:t>filter() </a:t>
            </a:r>
            <a:r>
              <a:rPr lang="en-US"/>
              <a:t>or using SQL-like syntax with </a:t>
            </a:r>
            <a:r>
              <a:rPr b="1" lang="en-US"/>
              <a:t>where()</a:t>
            </a:r>
            <a:r>
              <a:rPr lang="en-US"/>
              <a:t>.</a:t>
            </a:r>
            <a:endParaRPr/>
          </a:p>
          <a:p>
            <a:pPr indent="-342900" lvl="0" marL="342900" rtl="0" algn="l">
              <a:spcBef>
                <a:spcPts val="360"/>
              </a:spcBef>
              <a:spcAft>
                <a:spcPts val="0"/>
              </a:spcAft>
              <a:buSzPts val="1800"/>
              <a:buChar char="•"/>
            </a:pPr>
            <a:r>
              <a:rPr b="1" lang="en-US"/>
              <a:t>Data Type Conversion</a:t>
            </a:r>
            <a:r>
              <a:rPr lang="en-US"/>
              <a:t>: allow for converting data types of columns using methods like</a:t>
            </a:r>
            <a:r>
              <a:rPr b="1" lang="en-US"/>
              <a:t> cast() </a:t>
            </a:r>
            <a:r>
              <a:rPr lang="en-US"/>
              <a:t>to convert a column to a different data type, ensuring data consistency and compatibility with downstream operations.</a:t>
            </a:r>
            <a:endParaRPr/>
          </a:p>
          <a:p>
            <a:pPr indent="-342900" lvl="0" marL="342900" rtl="0" algn="l">
              <a:spcBef>
                <a:spcPts val="360"/>
              </a:spcBef>
              <a:spcAft>
                <a:spcPts val="0"/>
              </a:spcAft>
              <a:buSzPts val="1800"/>
              <a:buChar char="•"/>
            </a:pPr>
            <a:r>
              <a:rPr b="1" lang="en-US"/>
              <a:t>String Manipulation</a:t>
            </a:r>
            <a:r>
              <a:rPr lang="en-US"/>
              <a:t>: PySpark provides string manipulation functions (e.g., </a:t>
            </a:r>
            <a:r>
              <a:rPr b="1" lang="en-US"/>
              <a:t>substring(), split(), concat()</a:t>
            </a:r>
            <a:r>
              <a:rPr lang="en-US"/>
              <a:t>) to perform operations on string columns within DataFrames.</a:t>
            </a:r>
            <a:endParaRPr/>
          </a:p>
          <a:p>
            <a:pPr indent="-342900" lvl="0" marL="342900" rtl="0" algn="l">
              <a:spcBef>
                <a:spcPts val="360"/>
              </a:spcBef>
              <a:spcAft>
                <a:spcPts val="0"/>
              </a:spcAft>
              <a:buSzPts val="1800"/>
              <a:buChar char="•"/>
            </a:pPr>
            <a:r>
              <a:rPr b="1" lang="en-US"/>
              <a:t>Handling Duplicates</a:t>
            </a:r>
            <a:r>
              <a:rPr lang="en-US"/>
              <a:t>: DataFrames offer methods such as </a:t>
            </a:r>
            <a:r>
              <a:rPr b="1" lang="en-US"/>
              <a:t>dropDuplicates() </a:t>
            </a:r>
            <a:r>
              <a:rPr lang="en-US"/>
              <a:t>to remove duplicate rows based on specified columns, ensuring data quality and integrity during data processing pipelines.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5"/>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Aggregation and Grouping of Data</a:t>
            </a:r>
            <a:endParaRPr/>
          </a:p>
        </p:txBody>
      </p:sp>
      <p:sp>
        <p:nvSpPr>
          <p:cNvPr id="529" name="Google Shape;529;p85"/>
          <p:cNvSpPr txBox="1"/>
          <p:nvPr>
            <p:ph idx="1" type="body"/>
          </p:nvPr>
        </p:nvSpPr>
        <p:spPr>
          <a:xfrm>
            <a:off x="334963" y="1585912"/>
            <a:ext cx="11522100" cy="45609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0"/>
              </a:spcBef>
              <a:spcAft>
                <a:spcPts val="0"/>
              </a:spcAft>
              <a:buSzPts val="1800"/>
              <a:buChar char="•"/>
            </a:pPr>
            <a:r>
              <a:rPr b="1" lang="en-US"/>
              <a:t>GroupBy Operation</a:t>
            </a:r>
            <a:r>
              <a:rPr lang="en-US"/>
              <a:t>: allows grouping of DataFrame rows based on one or more columns.</a:t>
            </a:r>
            <a:endParaRPr/>
          </a:p>
          <a:p>
            <a:pPr indent="-342900" lvl="0" marL="342900" rtl="0" algn="l">
              <a:lnSpc>
                <a:spcPct val="115000"/>
              </a:lnSpc>
              <a:spcBef>
                <a:spcPts val="360"/>
              </a:spcBef>
              <a:spcAft>
                <a:spcPts val="0"/>
              </a:spcAft>
              <a:buSzPts val="1800"/>
              <a:buChar char="•"/>
            </a:pPr>
            <a:r>
              <a:rPr b="1" lang="en-US"/>
              <a:t>Aggregation Functions</a:t>
            </a:r>
            <a:r>
              <a:rPr lang="en-US"/>
              <a:t>: DataFrames support various aggregation functions such as</a:t>
            </a:r>
            <a:r>
              <a:rPr b="1" lang="en-US"/>
              <a:t> count(), sum(), avg(), min(), max(),</a:t>
            </a:r>
            <a:r>
              <a:rPr lang="en-US"/>
              <a:t> etc. .</a:t>
            </a:r>
            <a:endParaRPr/>
          </a:p>
          <a:p>
            <a:pPr indent="-342900" lvl="0" marL="342900" rtl="0" algn="l">
              <a:lnSpc>
                <a:spcPct val="115000"/>
              </a:lnSpc>
              <a:spcBef>
                <a:spcPts val="360"/>
              </a:spcBef>
              <a:spcAft>
                <a:spcPts val="0"/>
              </a:spcAft>
              <a:buSzPts val="1800"/>
              <a:buChar char="•"/>
            </a:pPr>
            <a:r>
              <a:rPr b="1" lang="en-US"/>
              <a:t>Window Functions</a:t>
            </a:r>
            <a:r>
              <a:rPr lang="en-US"/>
              <a:t>: PySpark offers window functions (e.g., </a:t>
            </a:r>
            <a:r>
              <a:rPr b="1" lang="en-US"/>
              <a:t>window(), over()</a:t>
            </a:r>
            <a:r>
              <a:rPr lang="en-US"/>
              <a:t>) to perform aggregation operations over specified window partitions, enabling advanced analytical calculations such as running totals, moving averages, and rank calculations.</a:t>
            </a:r>
            <a:endParaRPr/>
          </a:p>
          <a:p>
            <a:pPr indent="-342900" lvl="0" marL="342900" rtl="0" algn="l">
              <a:lnSpc>
                <a:spcPct val="115000"/>
              </a:lnSpc>
              <a:spcBef>
                <a:spcPts val="360"/>
              </a:spcBef>
              <a:spcAft>
                <a:spcPts val="0"/>
              </a:spcAft>
              <a:buSzPts val="1800"/>
              <a:buChar char="•"/>
            </a:pPr>
            <a:r>
              <a:rPr b="1" lang="en-US"/>
              <a:t>Pivot Tables</a:t>
            </a:r>
            <a:r>
              <a:rPr lang="en-US"/>
              <a:t>: DataFrames support pivot operations using the </a:t>
            </a:r>
            <a:r>
              <a:rPr b="1" lang="en-US"/>
              <a:t>pivot()</a:t>
            </a:r>
            <a:r>
              <a:rPr lang="en-US"/>
              <a:t> method, allowing users to transform row values into column headers and aggregate data accordingly, facilitating the creation of summary tables and reports.</a:t>
            </a:r>
            <a:endParaRPr/>
          </a:p>
          <a:p>
            <a:pPr indent="-342900" lvl="0" marL="342900" rtl="0" algn="l">
              <a:lnSpc>
                <a:spcPct val="115000"/>
              </a:lnSpc>
              <a:spcBef>
                <a:spcPts val="360"/>
              </a:spcBef>
              <a:spcAft>
                <a:spcPts val="0"/>
              </a:spcAft>
              <a:buSzPts val="1800"/>
              <a:buChar char="•"/>
            </a:pPr>
            <a:r>
              <a:rPr b="1" lang="en-US"/>
              <a:t>Rollup and Cube Operations</a:t>
            </a:r>
            <a:r>
              <a:rPr lang="en-US"/>
              <a:t>: PySpark supports rollup and cube operations to generate multi-level aggregations and subtotals across dimensions specified by grouping columns, providing flexibility in summarizing and analyzing data.</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6"/>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Join Operations and Other Advanced Manipulation Techniques</a:t>
            </a:r>
            <a:endParaRPr/>
          </a:p>
        </p:txBody>
      </p:sp>
      <p:sp>
        <p:nvSpPr>
          <p:cNvPr id="535" name="Google Shape;535;p86"/>
          <p:cNvSpPr txBox="1"/>
          <p:nvPr>
            <p:ph idx="1" type="body"/>
          </p:nvPr>
        </p:nvSpPr>
        <p:spPr>
          <a:xfrm>
            <a:off x="334963" y="1585913"/>
            <a:ext cx="11522100" cy="45777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0"/>
              </a:spcBef>
              <a:spcAft>
                <a:spcPts val="0"/>
              </a:spcAft>
              <a:buSzPts val="1800"/>
              <a:buChar char="•"/>
            </a:pPr>
            <a:r>
              <a:rPr b="1" lang="en-US"/>
              <a:t>Join Types</a:t>
            </a:r>
            <a:r>
              <a:rPr lang="en-US"/>
              <a:t>: inner join, outer join (left, right, full), semi-join, anti-join, etc., e.</a:t>
            </a:r>
            <a:endParaRPr/>
          </a:p>
          <a:p>
            <a:pPr indent="-342900" lvl="0" marL="342900" rtl="0" algn="l">
              <a:lnSpc>
                <a:spcPct val="115000"/>
              </a:lnSpc>
              <a:spcBef>
                <a:spcPts val="360"/>
              </a:spcBef>
              <a:spcAft>
                <a:spcPts val="0"/>
              </a:spcAft>
              <a:buSzPts val="1800"/>
              <a:buChar char="•"/>
            </a:pPr>
            <a:r>
              <a:rPr b="1" lang="en-US"/>
              <a:t>Broadcast Joins</a:t>
            </a:r>
            <a:r>
              <a:rPr lang="en-US"/>
              <a:t>: PySpark optimizes join operations using broadcast joins for smaller DataFrames that can fit into memory across all nodes, improving performance by reducing data shuffling and network overhead.</a:t>
            </a:r>
            <a:endParaRPr/>
          </a:p>
          <a:p>
            <a:pPr indent="-342900" lvl="0" marL="342900" rtl="0" algn="l">
              <a:lnSpc>
                <a:spcPct val="115000"/>
              </a:lnSpc>
              <a:spcBef>
                <a:spcPts val="360"/>
              </a:spcBef>
              <a:spcAft>
                <a:spcPts val="0"/>
              </a:spcAft>
              <a:buSzPts val="1800"/>
              <a:buChar char="•"/>
            </a:pPr>
            <a:r>
              <a:rPr b="1" lang="en-US"/>
              <a:t>Partitioning and Bucketing</a:t>
            </a:r>
            <a:r>
              <a:rPr lang="en-US"/>
              <a:t>: Users can optimize join performance by partitioning and bucketing DataFrames based on join keys, reducing data movement and improving data locality during join operations.</a:t>
            </a:r>
            <a:endParaRPr/>
          </a:p>
          <a:p>
            <a:pPr indent="-342900" lvl="0" marL="342900" rtl="0" algn="l">
              <a:lnSpc>
                <a:spcPct val="115000"/>
              </a:lnSpc>
              <a:spcBef>
                <a:spcPts val="360"/>
              </a:spcBef>
              <a:spcAft>
                <a:spcPts val="0"/>
              </a:spcAft>
              <a:buSzPts val="1800"/>
              <a:buChar char="•"/>
            </a:pPr>
            <a:r>
              <a:rPr b="1" lang="en-US"/>
              <a:t>Union and Concatenation</a:t>
            </a:r>
            <a:r>
              <a:rPr lang="en-US"/>
              <a:t>: union() and concat()</a:t>
            </a:r>
            <a:endParaRPr/>
          </a:p>
          <a:p>
            <a:pPr indent="-342900" lvl="0" marL="342900" rtl="0" algn="l">
              <a:lnSpc>
                <a:spcPct val="115000"/>
              </a:lnSpc>
              <a:spcBef>
                <a:spcPts val="360"/>
              </a:spcBef>
              <a:spcAft>
                <a:spcPts val="0"/>
              </a:spcAft>
              <a:buSzPts val="1800"/>
              <a:buChar char="•"/>
            </a:pPr>
            <a:r>
              <a:rPr b="1" lang="en-US"/>
              <a:t>Sampling and Filtering</a:t>
            </a:r>
            <a:r>
              <a:rPr lang="en-US"/>
              <a:t>: sample()) </a:t>
            </a:r>
            <a:endParaRPr/>
          </a:p>
          <a:p>
            <a:pPr indent="-342900" lvl="0" marL="342900" rtl="0" algn="l">
              <a:lnSpc>
                <a:spcPct val="115000"/>
              </a:lnSpc>
              <a:spcBef>
                <a:spcPts val="360"/>
              </a:spcBef>
              <a:spcAft>
                <a:spcPts val="0"/>
              </a:spcAft>
              <a:buSzPts val="1800"/>
              <a:buChar char="•"/>
            </a:pPr>
            <a:r>
              <a:rPr b="1" i="0" lang="en-US">
                <a:solidFill>
                  <a:srgbClr val="0D0D0D"/>
                </a:solidFill>
                <a:highlight>
                  <a:srgbClr val="FFFFFF"/>
                </a:highlight>
              </a:rPr>
              <a:t>Advanced Data Manipulation Techniques</a:t>
            </a:r>
            <a:r>
              <a:rPr i="0" lang="en-US">
                <a:solidFill>
                  <a:srgbClr val="0D0D0D"/>
                </a:solidFill>
                <a:highlight>
                  <a:srgbClr val="FFFFFF"/>
                </a:highlight>
              </a:rPr>
              <a:t>: window functions, cross joins, Cartesian joins, and recursive queries, empowering users to perform complex data transformations and analyses on large-scale datasets.</a:t>
            </a:r>
            <a:endParaRPr/>
          </a:p>
          <a:p>
            <a:pPr indent="-228600" lvl="0" marL="342900" rtl="0" algn="l">
              <a:spcBef>
                <a:spcPts val="360"/>
              </a:spcBef>
              <a:spcAft>
                <a:spcPts val="0"/>
              </a:spcAft>
              <a:buSzPts val="1800"/>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7"/>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PySpark with Common Data Analysis Libraries</a:t>
            </a:r>
            <a:endParaRPr/>
          </a:p>
        </p:txBody>
      </p:sp>
      <p:sp>
        <p:nvSpPr>
          <p:cNvPr id="541" name="Google Shape;541;p87"/>
          <p:cNvSpPr txBox="1"/>
          <p:nvPr>
            <p:ph idx="1" type="body"/>
          </p:nvPr>
        </p:nvSpPr>
        <p:spPr>
          <a:xfrm>
            <a:off x="334963" y="1585912"/>
            <a:ext cx="11522100" cy="45102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800"/>
              <a:buChar char="•"/>
            </a:pPr>
            <a:r>
              <a:rPr b="1" lang="en-US"/>
              <a:t>PySpark DataFrames and Pandas DataFrames</a:t>
            </a:r>
            <a:r>
              <a:rPr lang="en-US"/>
              <a:t>: Pandas() and createDataFrame()</a:t>
            </a:r>
            <a:endParaRPr/>
          </a:p>
          <a:p>
            <a:pPr indent="-342900" lvl="0" marL="342900" rtl="0" algn="l">
              <a:lnSpc>
                <a:spcPct val="150000"/>
              </a:lnSpc>
              <a:spcBef>
                <a:spcPts val="360"/>
              </a:spcBef>
              <a:spcAft>
                <a:spcPts val="0"/>
              </a:spcAft>
              <a:buSzPts val="1800"/>
              <a:buChar char="•"/>
            </a:pPr>
            <a:r>
              <a:rPr b="1" lang="en-US"/>
              <a:t>Data Exploration and Preprocessing</a:t>
            </a:r>
            <a:r>
              <a:rPr lang="en-US"/>
              <a:t>: Users can utilize Pandas for initial data exploration, summary statistics, and preprocessing tasks on smaller subsets of data before scaling up analysis with PySpark. </a:t>
            </a:r>
            <a:endParaRPr/>
          </a:p>
          <a:p>
            <a:pPr indent="-342900" lvl="0" marL="342900" rtl="0" algn="l">
              <a:lnSpc>
                <a:spcPct val="150000"/>
              </a:lnSpc>
              <a:spcBef>
                <a:spcPts val="360"/>
              </a:spcBef>
              <a:spcAft>
                <a:spcPts val="0"/>
              </a:spcAft>
              <a:buSzPts val="1800"/>
              <a:buChar char="•"/>
            </a:pPr>
            <a:r>
              <a:rPr b="1" lang="en-US"/>
              <a:t>Integration with Matplotlib for Visualization</a:t>
            </a:r>
            <a:r>
              <a:rPr lang="en-US"/>
              <a:t>: PySpark can be integrated with Matplotlib, a popular data visualization library in Python, to create a wide range of charts and plots directly from PySpark DataFrames. </a:t>
            </a:r>
            <a:endParaRPr/>
          </a:p>
          <a:p>
            <a:pPr indent="-342900" lvl="0" marL="342900" rtl="0" algn="l">
              <a:lnSpc>
                <a:spcPct val="150000"/>
              </a:lnSpc>
              <a:spcBef>
                <a:spcPts val="360"/>
              </a:spcBef>
              <a:spcAft>
                <a:spcPts val="0"/>
              </a:spcAft>
              <a:buSzPts val="1800"/>
              <a:buChar char="•"/>
            </a:pPr>
            <a:r>
              <a:rPr b="1" lang="en-US"/>
              <a:t>Pandas UDFs for Custom Analysis</a:t>
            </a:r>
            <a:r>
              <a:rPr lang="en-US"/>
              <a:t>: PySpark's Pandas User Defined Functions (UDFs) enable users to apply custom analysis and visualization functions written in Pandas to PySpark DataFrames efficiently. </a:t>
            </a:r>
            <a:endParaRPr/>
          </a:p>
          <a:p>
            <a:pPr indent="0" lvl="0" marL="342900" rtl="0" algn="l">
              <a:spcBef>
                <a:spcPts val="36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8"/>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Creating Charts and Visualizations from Spark Data</a:t>
            </a:r>
            <a:endParaRPr/>
          </a:p>
        </p:txBody>
      </p:sp>
      <p:sp>
        <p:nvSpPr>
          <p:cNvPr id="547" name="Google Shape;547;p88"/>
          <p:cNvSpPr txBox="1"/>
          <p:nvPr>
            <p:ph idx="1" type="body"/>
          </p:nvPr>
        </p:nvSpPr>
        <p:spPr>
          <a:xfrm>
            <a:off x="334963" y="1585913"/>
            <a:ext cx="115221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800"/>
              <a:buChar char="•"/>
            </a:pPr>
            <a:r>
              <a:rPr b="1" lang="en-US"/>
              <a:t>Aggregation and Grouping</a:t>
            </a:r>
            <a:r>
              <a:rPr lang="en-US"/>
              <a:t>: PySpark allows users to perform data aggregation and grouping operations to summarize data before visualization. </a:t>
            </a:r>
            <a:endParaRPr/>
          </a:p>
          <a:p>
            <a:pPr indent="-342900" lvl="0" marL="342900" rtl="0" algn="l">
              <a:lnSpc>
                <a:spcPct val="150000"/>
              </a:lnSpc>
              <a:spcBef>
                <a:spcPts val="0"/>
              </a:spcBef>
              <a:spcAft>
                <a:spcPts val="0"/>
              </a:spcAft>
              <a:buSzPts val="1800"/>
              <a:buChar char="•"/>
            </a:pPr>
            <a:r>
              <a:rPr b="1" lang="en-US"/>
              <a:t>Matplotlib Integration</a:t>
            </a:r>
            <a:r>
              <a:rPr lang="en-US"/>
              <a:t>: PySpark's integration with Matplotlib enables users to create charts and visualizations directly from PySpark DataFrames. </a:t>
            </a:r>
            <a:endParaRPr/>
          </a:p>
          <a:p>
            <a:pPr indent="-342900" lvl="0" marL="342900" rtl="0" algn="l">
              <a:lnSpc>
                <a:spcPct val="150000"/>
              </a:lnSpc>
              <a:spcBef>
                <a:spcPts val="0"/>
              </a:spcBef>
              <a:spcAft>
                <a:spcPts val="0"/>
              </a:spcAft>
              <a:buSzPts val="1800"/>
              <a:buChar char="•"/>
            </a:pPr>
            <a:r>
              <a:rPr b="1" lang="en-US"/>
              <a:t>Scalable Visualization</a:t>
            </a:r>
            <a:r>
              <a:rPr lang="en-US"/>
              <a:t>: PySpark's distributed computing capabilities enable users to create visualizations from large-scale datasets that exceed the memory capacity of a single machine. </a:t>
            </a:r>
            <a:endParaRPr/>
          </a:p>
          <a:p>
            <a:pPr indent="-342900" lvl="0" marL="342900" rtl="0" algn="l">
              <a:lnSpc>
                <a:spcPct val="150000"/>
              </a:lnSpc>
              <a:spcBef>
                <a:spcPts val="0"/>
              </a:spcBef>
              <a:spcAft>
                <a:spcPts val="0"/>
              </a:spcAft>
              <a:buSzPts val="1800"/>
              <a:buChar char="•"/>
            </a:pPr>
            <a:r>
              <a:rPr b="1" lang="en-US"/>
              <a:t>Interactive Visualization with Jupyter Notebooks</a:t>
            </a:r>
            <a:r>
              <a:rPr lang="en-US"/>
              <a:t>: PySpark integrates seamlessly with Jupyter Notebooks, enabling users to create interactive visualizations using Matplotlib within a notebook environment.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9"/>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Introduction to MLlib, Spark's Machine Learning Library</a:t>
            </a:r>
            <a:endParaRPr/>
          </a:p>
        </p:txBody>
      </p:sp>
      <p:sp>
        <p:nvSpPr>
          <p:cNvPr id="553" name="Google Shape;553;p89"/>
          <p:cNvSpPr txBox="1"/>
          <p:nvPr>
            <p:ph idx="1" type="body"/>
          </p:nvPr>
        </p:nvSpPr>
        <p:spPr>
          <a:xfrm>
            <a:off x="334963" y="1585913"/>
            <a:ext cx="115221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800"/>
              <a:buFont typeface="Arial"/>
              <a:buAutoNum type="arabicPeriod"/>
            </a:pPr>
            <a:r>
              <a:rPr b="1" i="0" lang="en-US">
                <a:solidFill>
                  <a:srgbClr val="0D0D0D"/>
                </a:solidFill>
                <a:highlight>
                  <a:srgbClr val="FFFFFF"/>
                </a:highlight>
              </a:rPr>
              <a:t>Overview of MLlib</a:t>
            </a:r>
            <a:r>
              <a:rPr i="0" lang="en-US">
                <a:solidFill>
                  <a:srgbClr val="0D0D0D"/>
                </a:solidFill>
                <a:highlight>
                  <a:srgbClr val="FFFFFF"/>
                </a:highlight>
              </a:rPr>
              <a:t>: MLlib is Spark's scalable machine learning library designed for large-scale distributed machine learning tasks. </a:t>
            </a:r>
            <a:endParaRPr>
              <a:solidFill>
                <a:srgbClr val="0D0D0D"/>
              </a:solidFill>
              <a:highlight>
                <a:srgbClr val="FFFFFF"/>
              </a:highlight>
            </a:endParaRPr>
          </a:p>
          <a:p>
            <a:pPr indent="-342900" lvl="0" marL="342900" rtl="0" algn="l">
              <a:lnSpc>
                <a:spcPct val="150000"/>
              </a:lnSpc>
              <a:spcBef>
                <a:spcPts val="0"/>
              </a:spcBef>
              <a:spcAft>
                <a:spcPts val="0"/>
              </a:spcAft>
              <a:buSzPts val="1800"/>
              <a:buFont typeface="Arial"/>
              <a:buAutoNum type="arabicPeriod"/>
            </a:pPr>
            <a:r>
              <a:rPr b="1" i="0" lang="en-US">
                <a:solidFill>
                  <a:srgbClr val="0D0D0D"/>
                </a:solidFill>
                <a:highlight>
                  <a:srgbClr val="FFFFFF"/>
                </a:highlight>
              </a:rPr>
              <a:t>Scalability and Performance</a:t>
            </a:r>
            <a:r>
              <a:rPr i="0" lang="en-US">
                <a:solidFill>
                  <a:srgbClr val="0D0D0D"/>
                </a:solidFill>
                <a:highlight>
                  <a:srgbClr val="FFFFFF"/>
                </a:highlight>
              </a:rPr>
              <a:t>: MLlib leverages Spark's distributed computing framework to parallelize machine learning algorithms across multiple nodes in a cluster, enabling efficient processing of large-scale datasets. </a:t>
            </a:r>
            <a:endParaRPr/>
          </a:p>
          <a:p>
            <a:pPr indent="-342900" lvl="0" marL="342900" rtl="0" algn="l">
              <a:lnSpc>
                <a:spcPct val="150000"/>
              </a:lnSpc>
              <a:spcBef>
                <a:spcPts val="360"/>
              </a:spcBef>
              <a:spcAft>
                <a:spcPts val="0"/>
              </a:spcAft>
              <a:buSzPts val="1800"/>
              <a:buFont typeface="Arial"/>
              <a:buAutoNum type="arabicPeriod"/>
            </a:pPr>
            <a:r>
              <a:rPr b="1" i="0" lang="en-US">
                <a:solidFill>
                  <a:srgbClr val="0D0D0D"/>
                </a:solidFill>
                <a:highlight>
                  <a:srgbClr val="FFFFFF"/>
                </a:highlight>
              </a:rPr>
              <a:t>Integration with PySpark</a:t>
            </a:r>
            <a:r>
              <a:rPr i="0" lang="en-US">
                <a:solidFill>
                  <a:srgbClr val="0D0D0D"/>
                </a:solidFill>
                <a:highlight>
                  <a:srgbClr val="FFFFFF"/>
                </a:highlight>
              </a:rPr>
              <a:t>: MLlib is seamlessly integrated with PySpark, enabling Python developers to leverage Spark's machine learning capabilities directly from their Python code..</a:t>
            </a:r>
            <a:endParaRPr/>
          </a:p>
          <a:p>
            <a:pPr indent="0" lvl="0" marL="0" rtl="0" algn="l">
              <a:spcBef>
                <a:spcPts val="360"/>
              </a:spcBef>
              <a:spcAft>
                <a:spcPts val="0"/>
              </a:spcAft>
              <a:buSzPts val="180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0"/>
          <p:cNvSpPr txBox="1"/>
          <p:nvPr>
            <p:ph type="title"/>
          </p:nvPr>
        </p:nvSpPr>
        <p:spPr>
          <a:xfrm>
            <a:off x="334963" y="234951"/>
            <a:ext cx="115221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MLlib Algorithms for Classification, Regression, Clustering</a:t>
            </a:r>
            <a:endParaRPr/>
          </a:p>
        </p:txBody>
      </p:sp>
      <p:sp>
        <p:nvSpPr>
          <p:cNvPr id="559" name="Google Shape;559;p90"/>
          <p:cNvSpPr txBox="1"/>
          <p:nvPr>
            <p:ph idx="1" type="body"/>
          </p:nvPr>
        </p:nvSpPr>
        <p:spPr>
          <a:xfrm>
            <a:off x="334963" y="1585912"/>
            <a:ext cx="11522100" cy="45354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0"/>
              </a:spcBef>
              <a:spcAft>
                <a:spcPts val="0"/>
              </a:spcAft>
              <a:buSzPts val="1800"/>
              <a:buFont typeface="Arial"/>
              <a:buAutoNum type="arabicPeriod"/>
            </a:pPr>
            <a:r>
              <a:rPr b="1" i="0" lang="en-US">
                <a:solidFill>
                  <a:srgbClr val="0D0D0D"/>
                </a:solidFill>
                <a:highlight>
                  <a:srgbClr val="FFFFFF"/>
                </a:highlight>
              </a:rPr>
              <a:t>Classification Algorithms</a:t>
            </a:r>
            <a:r>
              <a:rPr i="0" lang="en-US">
                <a:solidFill>
                  <a:srgbClr val="0D0D0D"/>
                </a:solidFill>
                <a:highlight>
                  <a:srgbClr val="FFFFFF"/>
                </a:highlight>
              </a:rPr>
              <a:t>: logistic regression, decision trees, random forests, gradient-boosted trees, support vector machines (SVM), and naive Bayes.</a:t>
            </a:r>
            <a:endParaRPr>
              <a:solidFill>
                <a:srgbClr val="0D0D0D"/>
              </a:solidFill>
              <a:highlight>
                <a:srgbClr val="FFFFFF"/>
              </a:highlight>
            </a:endParaRPr>
          </a:p>
          <a:p>
            <a:pPr indent="-342900" lvl="0" marL="342900" rtl="0" algn="l">
              <a:lnSpc>
                <a:spcPct val="115000"/>
              </a:lnSpc>
              <a:spcBef>
                <a:spcPts val="0"/>
              </a:spcBef>
              <a:spcAft>
                <a:spcPts val="0"/>
              </a:spcAft>
              <a:buSzPts val="1800"/>
              <a:buFont typeface="Arial"/>
              <a:buAutoNum type="arabicPeriod"/>
            </a:pPr>
            <a:r>
              <a:rPr b="1" i="0" lang="en-US">
                <a:solidFill>
                  <a:srgbClr val="0D0D0D"/>
                </a:solidFill>
                <a:highlight>
                  <a:srgbClr val="FFFFFF"/>
                </a:highlight>
              </a:rPr>
              <a:t>Regression Algorithms</a:t>
            </a:r>
            <a:r>
              <a:rPr i="0" lang="en-US">
                <a:solidFill>
                  <a:srgbClr val="0D0D0D"/>
                </a:solidFill>
                <a:highlight>
                  <a:srgbClr val="FFFFFF"/>
                </a:highlight>
              </a:rPr>
              <a:t>: MLlib provides regression algorithms such as linear regression, decision trees for regression, gradient-boosted trees for regression, and isotonic regression. </a:t>
            </a:r>
            <a:endParaRPr>
              <a:solidFill>
                <a:srgbClr val="0D0D0D"/>
              </a:solidFill>
              <a:highlight>
                <a:srgbClr val="FFFFFF"/>
              </a:highlight>
            </a:endParaRPr>
          </a:p>
          <a:p>
            <a:pPr indent="-342900" lvl="0" marL="342900" rtl="0" algn="l">
              <a:lnSpc>
                <a:spcPct val="115000"/>
              </a:lnSpc>
              <a:spcBef>
                <a:spcPts val="0"/>
              </a:spcBef>
              <a:spcAft>
                <a:spcPts val="0"/>
              </a:spcAft>
              <a:buSzPts val="1800"/>
              <a:buFont typeface="Arial"/>
              <a:buAutoNum type="arabicPeriod"/>
            </a:pPr>
            <a:r>
              <a:rPr b="1" i="0" lang="en-US">
                <a:solidFill>
                  <a:srgbClr val="0D0D0D"/>
                </a:solidFill>
                <a:highlight>
                  <a:srgbClr val="FFFFFF"/>
                </a:highlight>
              </a:rPr>
              <a:t>Clustering Algorithms</a:t>
            </a:r>
            <a:r>
              <a:rPr i="0" lang="en-US">
                <a:solidFill>
                  <a:srgbClr val="0D0D0D"/>
                </a:solidFill>
                <a:highlight>
                  <a:srgbClr val="FFFFFF"/>
                </a:highlight>
              </a:rPr>
              <a:t>: MLlib includes clustering algorithms such as k-means, Gaussian mixture models (GMM), and hierarchical clustering. </a:t>
            </a:r>
            <a:endParaRPr>
              <a:solidFill>
                <a:srgbClr val="0D0D0D"/>
              </a:solidFill>
              <a:highlight>
                <a:srgbClr val="FFFFFF"/>
              </a:highlight>
            </a:endParaRPr>
          </a:p>
          <a:p>
            <a:pPr indent="-342900" lvl="0" marL="342900" rtl="0" algn="l">
              <a:lnSpc>
                <a:spcPct val="115000"/>
              </a:lnSpc>
              <a:spcBef>
                <a:spcPts val="0"/>
              </a:spcBef>
              <a:spcAft>
                <a:spcPts val="0"/>
              </a:spcAft>
              <a:buSzPts val="1800"/>
              <a:buFont typeface="Arial"/>
              <a:buAutoNum type="arabicPeriod"/>
            </a:pPr>
            <a:r>
              <a:rPr b="1" i="0" lang="en-US">
                <a:solidFill>
                  <a:srgbClr val="0D0D0D"/>
                </a:solidFill>
                <a:highlight>
                  <a:srgbClr val="FFFFFF"/>
                </a:highlight>
              </a:rPr>
              <a:t>Dimensionality Reduction</a:t>
            </a:r>
            <a:r>
              <a:rPr i="0" lang="en-US">
                <a:solidFill>
                  <a:srgbClr val="0D0D0D"/>
                </a:solidFill>
                <a:highlight>
                  <a:srgbClr val="FFFFFF"/>
                </a:highlight>
              </a:rPr>
              <a:t>: MLlib provides dimensionality reduction techniques such as principal component analysis (PCA) and singular value decomposition (SVD).</a:t>
            </a:r>
            <a:endParaRPr/>
          </a:p>
          <a:p>
            <a:pPr indent="-342900" lvl="0" marL="342900" rtl="0" algn="l">
              <a:lnSpc>
                <a:spcPct val="115000"/>
              </a:lnSpc>
              <a:spcBef>
                <a:spcPts val="360"/>
              </a:spcBef>
              <a:spcAft>
                <a:spcPts val="0"/>
              </a:spcAft>
              <a:buSzPts val="1800"/>
              <a:buFont typeface="Arial"/>
              <a:buAutoNum type="arabicPeriod"/>
            </a:pPr>
            <a:r>
              <a:rPr b="1" i="0" lang="en-US">
                <a:solidFill>
                  <a:srgbClr val="0D0D0D"/>
                </a:solidFill>
                <a:highlight>
                  <a:srgbClr val="FFFFFF"/>
                </a:highlight>
              </a:rPr>
              <a:t>Model Selection and Evaluation</a:t>
            </a:r>
            <a:r>
              <a:rPr i="0" lang="en-US">
                <a:solidFill>
                  <a:srgbClr val="0D0D0D"/>
                </a:solidFill>
                <a:highlight>
                  <a:srgbClr val="FFFFFF"/>
                </a:highlight>
              </a:rPr>
              <a:t>: MLlib includes tools for model selection and evaluation, such as cross-validation, hyperparameter tuning, and metrics for evaluating model performance (e.g., accuracy, precision, recall, F1-score, RMSE).</a:t>
            </a:r>
            <a:endParaRPr/>
          </a:p>
          <a:p>
            <a:pPr indent="-228600" lvl="0" marL="342900" rtl="0" algn="l">
              <a:spcBef>
                <a:spcPts val="360"/>
              </a:spcBef>
              <a:spcAft>
                <a:spcPts val="0"/>
              </a:spcAft>
              <a:buSzPts val="180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1"/>
          <p:cNvSpPr txBox="1"/>
          <p:nvPr>
            <p:ph type="title"/>
          </p:nvPr>
        </p:nvSpPr>
        <p:spPr>
          <a:xfrm>
            <a:off x="334950" y="0"/>
            <a:ext cx="95379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Practical Application of MLlib for Model Creation and Evaluation</a:t>
            </a:r>
            <a:endParaRPr/>
          </a:p>
        </p:txBody>
      </p:sp>
      <p:sp>
        <p:nvSpPr>
          <p:cNvPr id="565" name="Google Shape;565;p91"/>
          <p:cNvSpPr txBox="1"/>
          <p:nvPr>
            <p:ph idx="1" type="body"/>
          </p:nvPr>
        </p:nvSpPr>
        <p:spPr>
          <a:xfrm>
            <a:off x="1209249" y="1585900"/>
            <a:ext cx="10647900" cy="4586400"/>
          </a:xfrm>
          <a:prstGeom prst="rect">
            <a:avLst/>
          </a:prstGeom>
          <a:noFill/>
          <a:ln>
            <a:noFill/>
          </a:ln>
        </p:spPr>
        <p:txBody>
          <a:bodyPr anchorCtr="0" anchor="t" bIns="45700" lIns="91425" spcFirstLastPara="1" rIns="91425" wrap="square" tIns="45700">
            <a:noAutofit/>
          </a:bodyPr>
          <a:lstStyle/>
          <a:p>
            <a:pPr indent="-393700" lvl="0" marL="342900" rtl="0" algn="l">
              <a:spcBef>
                <a:spcPts val="0"/>
              </a:spcBef>
              <a:spcAft>
                <a:spcPts val="0"/>
              </a:spcAft>
              <a:buSzPts val="2600"/>
              <a:buFont typeface="Lato"/>
              <a:buAutoNum type="arabicPeriod"/>
            </a:pPr>
            <a:r>
              <a:rPr i="0" lang="en-US" sz="2600">
                <a:solidFill>
                  <a:srgbClr val="0D0D0D"/>
                </a:solidFill>
                <a:highlight>
                  <a:srgbClr val="FFFFFF"/>
                </a:highlight>
              </a:rPr>
              <a:t>Data Preparation</a:t>
            </a:r>
            <a:endParaRPr sz="2600">
              <a:solidFill>
                <a:srgbClr val="0D0D0D"/>
              </a:solidFill>
              <a:highlight>
                <a:srgbClr val="FFFFFF"/>
              </a:highlight>
            </a:endParaRPr>
          </a:p>
          <a:p>
            <a:pPr indent="-393700" lvl="0" marL="342900" rtl="0" algn="l">
              <a:spcBef>
                <a:spcPts val="0"/>
              </a:spcBef>
              <a:spcAft>
                <a:spcPts val="0"/>
              </a:spcAft>
              <a:buSzPts val="2600"/>
              <a:buFont typeface="Lato"/>
              <a:buAutoNum type="arabicPeriod"/>
            </a:pPr>
            <a:r>
              <a:rPr i="0" lang="en-US" sz="2600">
                <a:solidFill>
                  <a:srgbClr val="0D0D0D"/>
                </a:solidFill>
                <a:highlight>
                  <a:srgbClr val="FFFFFF"/>
                </a:highlight>
              </a:rPr>
              <a:t>Model Training</a:t>
            </a:r>
            <a:endParaRPr sz="2600">
              <a:solidFill>
                <a:srgbClr val="0D0D0D"/>
              </a:solidFill>
              <a:highlight>
                <a:srgbClr val="FFFFFF"/>
              </a:highlight>
            </a:endParaRPr>
          </a:p>
          <a:p>
            <a:pPr indent="-393700" lvl="0" marL="342900" rtl="0" algn="l">
              <a:spcBef>
                <a:spcPts val="0"/>
              </a:spcBef>
              <a:spcAft>
                <a:spcPts val="0"/>
              </a:spcAft>
              <a:buSzPts val="2600"/>
              <a:buFont typeface="Lato"/>
              <a:buAutoNum type="arabicPeriod"/>
            </a:pPr>
            <a:r>
              <a:rPr i="0" lang="en-US" sz="2600">
                <a:solidFill>
                  <a:srgbClr val="0D0D0D"/>
                </a:solidFill>
                <a:highlight>
                  <a:srgbClr val="FFFFFF"/>
                </a:highlight>
              </a:rPr>
              <a:t>Model Evaluation</a:t>
            </a:r>
            <a:endParaRPr sz="2600">
              <a:solidFill>
                <a:srgbClr val="0D0D0D"/>
              </a:solidFill>
              <a:highlight>
                <a:srgbClr val="FFFFFF"/>
              </a:highlight>
            </a:endParaRPr>
          </a:p>
          <a:p>
            <a:pPr indent="-393700" lvl="0" marL="342900" rtl="0" algn="l">
              <a:spcBef>
                <a:spcPts val="0"/>
              </a:spcBef>
              <a:spcAft>
                <a:spcPts val="0"/>
              </a:spcAft>
              <a:buSzPts val="2600"/>
              <a:buFont typeface="Lato"/>
              <a:buAutoNum type="arabicPeriod"/>
            </a:pPr>
            <a:r>
              <a:rPr i="0" lang="en-US" sz="2600">
                <a:solidFill>
                  <a:srgbClr val="0D0D0D"/>
                </a:solidFill>
                <a:highlight>
                  <a:srgbClr val="FFFFFF"/>
                </a:highlight>
              </a:rPr>
              <a:t>Deployment and Integration</a:t>
            </a:r>
            <a:endParaRPr sz="2600">
              <a:solidFill>
                <a:srgbClr val="0D0D0D"/>
              </a:solidFill>
              <a:highlight>
                <a:srgbClr val="FFFFFF"/>
              </a:highlight>
            </a:endParaRPr>
          </a:p>
          <a:p>
            <a:pPr indent="-393700" lvl="0" marL="342900" rtl="0" algn="l">
              <a:spcBef>
                <a:spcPts val="0"/>
              </a:spcBef>
              <a:spcAft>
                <a:spcPts val="0"/>
              </a:spcAft>
              <a:buSzPts val="2600"/>
              <a:buFont typeface="Lato"/>
              <a:buAutoNum type="arabicPeriod"/>
            </a:pPr>
            <a:r>
              <a:rPr i="0" lang="en-US" sz="2600">
                <a:solidFill>
                  <a:srgbClr val="0D0D0D"/>
                </a:solidFill>
                <a:highlight>
                  <a:srgbClr val="FFFFFF"/>
                </a:highlight>
              </a:rPr>
              <a:t>Iterative Development</a:t>
            </a:r>
            <a:endParaRPr sz="26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92"/>
          <p:cNvSpPr txBox="1"/>
          <p:nvPr>
            <p:ph type="title"/>
          </p:nvPr>
        </p:nvSpPr>
        <p:spPr>
          <a:xfrm>
            <a:off x="334964" y="234951"/>
            <a:ext cx="80133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Performance Considerations of PySpark Applications</a:t>
            </a:r>
            <a:endParaRPr/>
          </a:p>
        </p:txBody>
      </p:sp>
      <p:sp>
        <p:nvSpPr>
          <p:cNvPr id="571" name="Google Shape;571;p92"/>
          <p:cNvSpPr txBox="1"/>
          <p:nvPr>
            <p:ph idx="1" type="body"/>
          </p:nvPr>
        </p:nvSpPr>
        <p:spPr>
          <a:xfrm>
            <a:off x="334963" y="1585913"/>
            <a:ext cx="11522100" cy="4577700"/>
          </a:xfrm>
          <a:prstGeom prst="rect">
            <a:avLst/>
          </a:prstGeom>
          <a:noFill/>
          <a:ln>
            <a:noFill/>
          </a:ln>
        </p:spPr>
        <p:txBody>
          <a:bodyPr anchorCtr="0" anchor="t" bIns="45700" lIns="91425" spcFirstLastPara="1" rIns="91425" wrap="square" tIns="45700">
            <a:noAutofit/>
          </a:bodyPr>
          <a:lstStyle/>
          <a:p>
            <a:pPr indent="-342900" lvl="0" marL="342900" rtl="0" algn="l">
              <a:lnSpc>
                <a:spcPct val="125000"/>
              </a:lnSpc>
              <a:spcBef>
                <a:spcPts val="0"/>
              </a:spcBef>
              <a:spcAft>
                <a:spcPts val="0"/>
              </a:spcAft>
              <a:buSzPts val="1800"/>
              <a:buChar char="•"/>
            </a:pPr>
            <a:r>
              <a:rPr b="1" lang="en-US"/>
              <a:t>Data Serialization</a:t>
            </a:r>
            <a:r>
              <a:rPr lang="en-US"/>
              <a:t>: Choose appropriate serialization formats (e.g., Apache Arrow, Parquet) to optimize data transfer between the Python interpreter and Spark executors, minimizing serialization overhead and improving performance.</a:t>
            </a:r>
            <a:endParaRPr/>
          </a:p>
          <a:p>
            <a:pPr indent="-342900" lvl="0" marL="342900" rtl="0" algn="l">
              <a:lnSpc>
                <a:spcPct val="125000"/>
              </a:lnSpc>
              <a:spcBef>
                <a:spcPts val="0"/>
              </a:spcBef>
              <a:spcAft>
                <a:spcPts val="0"/>
              </a:spcAft>
              <a:buSzPts val="1800"/>
              <a:buChar char="•"/>
            </a:pPr>
            <a:r>
              <a:rPr b="1" lang="en-US"/>
              <a:t>Partitioning</a:t>
            </a:r>
            <a:r>
              <a:rPr lang="en-US"/>
              <a:t>: Optimize data partitioning to ensure efficient data distribution and minimize data skew. Use appropriate partitioning strategies (e.g., hash partitioning, range partitioning) based on data characteristics and processing requirements to achieve balanced workload distribution across cluster nodes.</a:t>
            </a:r>
            <a:endParaRPr/>
          </a:p>
          <a:p>
            <a:pPr indent="-342900" lvl="0" marL="342900" rtl="0" algn="l">
              <a:lnSpc>
                <a:spcPct val="125000"/>
              </a:lnSpc>
              <a:spcBef>
                <a:spcPts val="0"/>
              </a:spcBef>
              <a:spcAft>
                <a:spcPts val="0"/>
              </a:spcAft>
              <a:buSzPts val="1800"/>
              <a:buChar char="•"/>
            </a:pPr>
            <a:r>
              <a:rPr b="1" lang="en-US"/>
              <a:t>Memory Management</a:t>
            </a:r>
            <a:r>
              <a:rPr lang="en-US"/>
              <a:t>: Tune memory settings such as executor memory, driver memory, and shuffle memory to allocate sufficient resources for Spark tasks while avoiding memory contention and out-of-memory errors.</a:t>
            </a:r>
            <a:endParaRPr/>
          </a:p>
          <a:p>
            <a:pPr indent="-342900" lvl="0" marL="342900" rtl="0" algn="l">
              <a:lnSpc>
                <a:spcPct val="125000"/>
              </a:lnSpc>
              <a:spcBef>
                <a:spcPts val="0"/>
              </a:spcBef>
              <a:spcAft>
                <a:spcPts val="0"/>
              </a:spcAft>
              <a:buSzPts val="1800"/>
              <a:buChar char="•"/>
            </a:pPr>
            <a:r>
              <a:rPr b="1" lang="en-US"/>
              <a:t>Resource Allocation</a:t>
            </a:r>
            <a:r>
              <a:rPr lang="en-US"/>
              <a:t>: Configure Spark resource allocation settings (e.g., executor cores, executor instances, task concurrency) based on cluster capacity and workload characteristics to achieve optimal resource utilization and maximize throughput.</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3"/>
          <p:cNvSpPr txBox="1"/>
          <p:nvPr>
            <p:ph type="title"/>
          </p:nvPr>
        </p:nvSpPr>
        <p:spPr>
          <a:xfrm>
            <a:off x="334964" y="234951"/>
            <a:ext cx="930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Tuning Spark Jobs for Improved Performance and Scalability</a:t>
            </a:r>
            <a:endParaRPr/>
          </a:p>
        </p:txBody>
      </p:sp>
      <p:sp>
        <p:nvSpPr>
          <p:cNvPr id="577" name="Google Shape;577;p93"/>
          <p:cNvSpPr txBox="1"/>
          <p:nvPr>
            <p:ph idx="1" type="body"/>
          </p:nvPr>
        </p:nvSpPr>
        <p:spPr>
          <a:xfrm>
            <a:off x="334963" y="1585912"/>
            <a:ext cx="11522100" cy="45609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800"/>
              <a:buFont typeface="Arial"/>
              <a:buAutoNum type="arabicPeriod"/>
            </a:pPr>
            <a:r>
              <a:rPr b="1" i="0" lang="en-US">
                <a:solidFill>
                  <a:srgbClr val="0D0D0D"/>
                </a:solidFill>
                <a:highlight>
                  <a:srgbClr val="FFFFFF"/>
                </a:highlight>
              </a:rPr>
              <a:t>Execution Plan Analysis</a:t>
            </a:r>
            <a:r>
              <a:rPr i="0" lang="en-US">
                <a:solidFill>
                  <a:srgbClr val="0D0D0D"/>
                </a:solidFill>
                <a:highlight>
                  <a:srgbClr val="FFFFFF"/>
                </a:highlight>
              </a:rPr>
              <a:t>: Analyze Spark execution plans using tools like Spark UI or Spark History Server to identify bottlenecks, resource contention, and inefficient stages in Spark jobs. </a:t>
            </a:r>
            <a:endParaRPr/>
          </a:p>
          <a:p>
            <a:pPr indent="-342900" lvl="0" marL="342900" rtl="0" algn="l">
              <a:lnSpc>
                <a:spcPct val="150000"/>
              </a:lnSpc>
              <a:spcBef>
                <a:spcPts val="360"/>
              </a:spcBef>
              <a:spcAft>
                <a:spcPts val="0"/>
              </a:spcAft>
              <a:buSzPts val="1800"/>
              <a:buFont typeface="Arial"/>
              <a:buAutoNum type="arabicPeriod"/>
            </a:pPr>
            <a:r>
              <a:rPr b="1" i="0" lang="en-US">
                <a:solidFill>
                  <a:srgbClr val="0D0D0D"/>
                </a:solidFill>
                <a:highlight>
                  <a:srgbClr val="FFFFFF"/>
                </a:highlight>
              </a:rPr>
              <a:t>Partitioning and Repartitioning</a:t>
            </a:r>
            <a:r>
              <a:rPr i="0" lang="en-US">
                <a:solidFill>
                  <a:srgbClr val="0D0D0D"/>
                </a:solidFill>
                <a:highlight>
                  <a:srgbClr val="FFFFFF"/>
                </a:highlight>
              </a:rPr>
              <a:t>: Repartition and coalesce DataFrames as needed to control data distribution and optimize partitioning for join operations, aggregations, and parallel processing. </a:t>
            </a:r>
            <a:endParaRPr>
              <a:solidFill>
                <a:srgbClr val="0D0D0D"/>
              </a:solidFill>
              <a:highlight>
                <a:srgbClr val="FFFFFF"/>
              </a:highlight>
            </a:endParaRPr>
          </a:p>
          <a:p>
            <a:pPr indent="-342900" lvl="0" marL="342900" rtl="0" algn="l">
              <a:lnSpc>
                <a:spcPct val="150000"/>
              </a:lnSpc>
              <a:spcBef>
                <a:spcPts val="360"/>
              </a:spcBef>
              <a:spcAft>
                <a:spcPts val="0"/>
              </a:spcAft>
              <a:buSzPts val="1800"/>
              <a:buFont typeface="Arial"/>
              <a:buAutoNum type="arabicPeriod"/>
            </a:pPr>
            <a:r>
              <a:rPr b="1" i="0" lang="en-US">
                <a:solidFill>
                  <a:srgbClr val="0D0D0D"/>
                </a:solidFill>
                <a:highlight>
                  <a:srgbClr val="FFFFFF"/>
                </a:highlight>
              </a:rPr>
              <a:t>Broadcast Variables</a:t>
            </a:r>
            <a:r>
              <a:rPr i="0" lang="en-US">
                <a:solidFill>
                  <a:srgbClr val="0D0D0D"/>
                </a:solidFill>
                <a:highlight>
                  <a:srgbClr val="FFFFFF"/>
                </a:highlight>
              </a:rPr>
              <a:t>: Use broadcast variables to efficiently distribute read-only data (e.g., small lookup tables) to all worker nodes, reducing data transfer and improving join performance for large datasets.</a:t>
            </a:r>
            <a:endParaRPr/>
          </a:p>
          <a:p>
            <a:pPr indent="-342900" lvl="0" marL="342900" rtl="0" algn="l">
              <a:lnSpc>
                <a:spcPct val="150000"/>
              </a:lnSpc>
              <a:spcBef>
                <a:spcPts val="360"/>
              </a:spcBef>
              <a:spcAft>
                <a:spcPts val="0"/>
              </a:spcAft>
              <a:buSzPts val="1800"/>
              <a:buFont typeface="Arial"/>
              <a:buAutoNum type="arabicPeriod"/>
            </a:pPr>
            <a:r>
              <a:rPr b="1" i="0" lang="en-US">
                <a:solidFill>
                  <a:srgbClr val="0D0D0D"/>
                </a:solidFill>
                <a:highlight>
                  <a:srgbClr val="FFFFFF"/>
                </a:highlight>
              </a:rPr>
              <a:t>Parallelism and Concurrency</a:t>
            </a:r>
            <a:r>
              <a:rPr i="0" lang="en-US">
                <a:solidFill>
                  <a:srgbClr val="0D0D0D"/>
                </a:solidFill>
                <a:highlight>
                  <a:srgbClr val="FFFFFF"/>
                </a:highlight>
              </a:rPr>
              <a:t>: Adjust parallelism settings (e.g., parallelism level, task concurrency) to control the degree of parallelism and concurrency in Spark jobs, optimizing resource utilization and reducing job execution time.</a:t>
            </a:r>
            <a:endParaRPr/>
          </a:p>
          <a:p>
            <a:pPr indent="0" lvl="0" marL="0" rtl="0" algn="l">
              <a:spcBef>
                <a:spcPts val="360"/>
              </a:spcBef>
              <a:spcAft>
                <a:spcPts val="0"/>
              </a:spcAft>
              <a:buSzPts val="1800"/>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4"/>
          <p:cNvSpPr txBox="1"/>
          <p:nvPr>
            <p:ph type="title"/>
          </p:nvPr>
        </p:nvSpPr>
        <p:spPr>
          <a:xfrm>
            <a:off x="334964" y="234951"/>
            <a:ext cx="6785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Best Practices for Optimizing PySpark Code</a:t>
            </a:r>
            <a:endParaRPr/>
          </a:p>
        </p:txBody>
      </p:sp>
      <p:sp>
        <p:nvSpPr>
          <p:cNvPr id="583" name="Google Shape;583;p94"/>
          <p:cNvSpPr txBox="1"/>
          <p:nvPr>
            <p:ph idx="1" type="body"/>
          </p:nvPr>
        </p:nvSpPr>
        <p:spPr>
          <a:xfrm>
            <a:off x="334963" y="1585913"/>
            <a:ext cx="11522100" cy="4518600"/>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0"/>
              </a:spcBef>
              <a:spcAft>
                <a:spcPts val="0"/>
              </a:spcAft>
              <a:buSzPts val="1800"/>
              <a:buFont typeface="Arial"/>
              <a:buAutoNum type="arabicPeriod"/>
            </a:pPr>
            <a:r>
              <a:rPr b="1" i="0" lang="en-US">
                <a:solidFill>
                  <a:srgbClr val="0D0D0D"/>
                </a:solidFill>
                <a:highlight>
                  <a:srgbClr val="FFFFFF"/>
                </a:highlight>
              </a:rPr>
              <a:t>Use DataFrame APIs</a:t>
            </a:r>
            <a:r>
              <a:rPr i="0" lang="en-US">
                <a:solidFill>
                  <a:srgbClr val="0D0D0D"/>
                </a:solidFill>
                <a:highlight>
                  <a:srgbClr val="FFFFFF"/>
                </a:highlight>
              </a:rPr>
              <a:t>: Prefer DataFrame APIs over RDD APIs for data manipulation and transformation tasks.</a:t>
            </a:r>
            <a:endParaRPr/>
          </a:p>
          <a:p>
            <a:pPr indent="-342900" lvl="0" marL="342900" rtl="0" algn="l">
              <a:lnSpc>
                <a:spcPct val="115000"/>
              </a:lnSpc>
              <a:spcBef>
                <a:spcPts val="360"/>
              </a:spcBef>
              <a:spcAft>
                <a:spcPts val="0"/>
              </a:spcAft>
              <a:buSzPts val="1800"/>
              <a:buFont typeface="Arial"/>
              <a:buAutoNum type="arabicPeriod"/>
            </a:pPr>
            <a:r>
              <a:rPr b="1" i="0" lang="en-US">
                <a:solidFill>
                  <a:srgbClr val="0D0D0D"/>
                </a:solidFill>
                <a:highlight>
                  <a:srgbClr val="FFFFFF"/>
                </a:highlight>
              </a:rPr>
              <a:t>Avoid UDFs</a:t>
            </a:r>
            <a:r>
              <a:rPr i="0" lang="en-US">
                <a:solidFill>
                  <a:srgbClr val="0D0D0D"/>
                </a:solidFill>
                <a:highlight>
                  <a:srgbClr val="FFFFFF"/>
                </a:highlight>
              </a:rPr>
              <a:t>: Minimize the use of user-defined functions (UDFs) whenever possible.</a:t>
            </a:r>
            <a:endParaRPr/>
          </a:p>
          <a:p>
            <a:pPr indent="-342900" lvl="0" marL="342900" rtl="0" algn="l">
              <a:lnSpc>
                <a:spcPct val="115000"/>
              </a:lnSpc>
              <a:spcBef>
                <a:spcPts val="360"/>
              </a:spcBef>
              <a:spcAft>
                <a:spcPts val="0"/>
              </a:spcAft>
              <a:buSzPts val="1800"/>
              <a:buFont typeface="Arial"/>
              <a:buAutoNum type="arabicPeriod"/>
            </a:pPr>
            <a:r>
              <a:rPr b="1" i="0" lang="en-US">
                <a:solidFill>
                  <a:srgbClr val="0D0D0D"/>
                </a:solidFill>
                <a:highlight>
                  <a:srgbClr val="FFFFFF"/>
                </a:highlight>
              </a:rPr>
              <a:t>Pipeline Operations</a:t>
            </a:r>
            <a:r>
              <a:rPr i="0" lang="en-US">
                <a:solidFill>
                  <a:srgbClr val="0D0D0D"/>
                </a:solidFill>
                <a:highlight>
                  <a:srgbClr val="FFFFFF"/>
                </a:highlight>
              </a:rPr>
              <a:t>: Chain together multiple DataFrame operations into a single transformation pipeline to minimize intermediate data materialization and optimize query execution.</a:t>
            </a:r>
            <a:endParaRPr>
              <a:solidFill>
                <a:srgbClr val="0D0D0D"/>
              </a:solidFill>
              <a:highlight>
                <a:srgbClr val="FFFFFF"/>
              </a:highlight>
            </a:endParaRPr>
          </a:p>
          <a:p>
            <a:pPr indent="-342900" lvl="0" marL="342900" rtl="0" algn="l">
              <a:lnSpc>
                <a:spcPct val="115000"/>
              </a:lnSpc>
              <a:spcBef>
                <a:spcPts val="360"/>
              </a:spcBef>
              <a:spcAft>
                <a:spcPts val="0"/>
              </a:spcAft>
              <a:buSzPts val="1800"/>
              <a:buFont typeface="Arial"/>
              <a:buAutoNum type="arabicPeriod"/>
            </a:pPr>
            <a:r>
              <a:rPr b="1" i="0" lang="en-US">
                <a:solidFill>
                  <a:srgbClr val="0D0D0D"/>
                </a:solidFill>
                <a:highlight>
                  <a:srgbClr val="FFFFFF"/>
                </a:highlight>
              </a:rPr>
              <a:t>Predicate Pushdown</a:t>
            </a:r>
            <a:r>
              <a:rPr i="0" lang="en-US">
                <a:solidFill>
                  <a:srgbClr val="0D0D0D"/>
                </a:solidFill>
                <a:highlight>
                  <a:srgbClr val="FFFFFF"/>
                </a:highlight>
              </a:rPr>
              <a:t>: Leverage predicate pushdown optimization by filtering data early in the query execution plan using DataFrame filters or SQL WHERE clauses to reduce the amount of data processed and improve query performance.</a:t>
            </a:r>
            <a:endParaRPr/>
          </a:p>
          <a:p>
            <a:pPr indent="-342900" lvl="0" marL="342900" rtl="0" algn="l">
              <a:lnSpc>
                <a:spcPct val="115000"/>
              </a:lnSpc>
              <a:spcBef>
                <a:spcPts val="360"/>
              </a:spcBef>
              <a:spcAft>
                <a:spcPts val="0"/>
              </a:spcAft>
              <a:buSzPts val="1800"/>
              <a:buFont typeface="Arial"/>
              <a:buAutoNum type="arabicPeriod"/>
            </a:pPr>
            <a:r>
              <a:rPr b="1" i="0" lang="en-US">
                <a:solidFill>
                  <a:srgbClr val="0D0D0D"/>
                </a:solidFill>
                <a:highlight>
                  <a:srgbClr val="FFFFFF"/>
                </a:highlight>
              </a:rPr>
              <a:t>Memory Management</a:t>
            </a:r>
            <a:r>
              <a:rPr i="0" lang="en-US">
                <a:solidFill>
                  <a:srgbClr val="0D0D0D"/>
                </a:solidFill>
                <a:highlight>
                  <a:srgbClr val="FFFFFF"/>
                </a:highlight>
              </a:rPr>
              <a:t>: Monitor memory usage and garbage collection overhead using Spark monitoring tools and adjust memory settings accordingly to avoid memory-related performance issues.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5"/>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Summary of Key Points</a:t>
            </a:r>
            <a:endParaRPr/>
          </a:p>
        </p:txBody>
      </p:sp>
      <p:sp>
        <p:nvSpPr>
          <p:cNvPr id="589" name="Google Shape;589;p95"/>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Lato"/>
              <a:buAutoNum type="arabicPeriod"/>
            </a:pPr>
            <a:r>
              <a:rPr i="0" lang="en-US">
                <a:solidFill>
                  <a:srgbClr val="0D0D0D"/>
                </a:solidFill>
                <a:highlight>
                  <a:srgbClr val="FFFFFF"/>
                </a:highlight>
              </a:rPr>
              <a:t>PySpark provides a powerful framework for distributed data processing and machine learning, leveraging the scalability and performance of Apache Spark.</a:t>
            </a:r>
            <a:endParaRPr/>
          </a:p>
          <a:p>
            <a:pPr indent="-342900" lvl="0" marL="342900" rtl="0" algn="l">
              <a:spcBef>
                <a:spcPts val="360"/>
              </a:spcBef>
              <a:spcAft>
                <a:spcPts val="0"/>
              </a:spcAft>
              <a:buSzPts val="1800"/>
              <a:buFont typeface="Lato"/>
              <a:buAutoNum type="arabicPeriod"/>
            </a:pPr>
            <a:r>
              <a:rPr i="0" lang="en-US">
                <a:solidFill>
                  <a:srgbClr val="0D0D0D"/>
                </a:solidFill>
                <a:highlight>
                  <a:srgbClr val="FFFFFF"/>
                </a:highlight>
              </a:rPr>
              <a:t>Core concepts such as DataFrames, Spark MLlib, and optimization techniques are essential for developing efficient PySpark applications.</a:t>
            </a:r>
            <a:endParaRPr/>
          </a:p>
          <a:p>
            <a:pPr indent="-342900" lvl="0" marL="342900" rtl="0" algn="l">
              <a:spcBef>
                <a:spcPts val="360"/>
              </a:spcBef>
              <a:spcAft>
                <a:spcPts val="0"/>
              </a:spcAft>
              <a:buSzPts val="1800"/>
              <a:buFont typeface="Lato"/>
              <a:buAutoNum type="arabicPeriod"/>
            </a:pPr>
            <a:r>
              <a:rPr i="0" lang="en-US">
                <a:solidFill>
                  <a:srgbClr val="0D0D0D"/>
                </a:solidFill>
                <a:highlight>
                  <a:srgbClr val="FFFFFF"/>
                </a:highlight>
              </a:rPr>
              <a:t>PySpark integrates seamlessly with Python libraries like Pandas and Matplotlib, enabling interactive data analysis and visualization.</a:t>
            </a:r>
            <a:endParaRPr/>
          </a:p>
          <a:p>
            <a:pPr indent="-342900" lvl="0" marL="342900" rtl="0" algn="l">
              <a:spcBef>
                <a:spcPts val="360"/>
              </a:spcBef>
              <a:spcAft>
                <a:spcPts val="0"/>
              </a:spcAft>
              <a:buSzPts val="1800"/>
              <a:buFont typeface="Lato"/>
              <a:buAutoNum type="arabicPeriod"/>
            </a:pPr>
            <a:r>
              <a:rPr i="0" lang="en-US">
                <a:solidFill>
                  <a:srgbClr val="0D0D0D"/>
                </a:solidFill>
                <a:highlight>
                  <a:srgbClr val="FFFFFF"/>
                </a:highlight>
              </a:rPr>
              <a:t>Optimizing PySpark applications involves considerations such as data serialization, partitioning, memory management, and job tuning to achieve better performance and scalability.</a:t>
            </a:r>
            <a:endParaRPr/>
          </a:p>
          <a:p>
            <a:pPr indent="-342900" lvl="0" marL="342900" rtl="0" algn="l">
              <a:spcBef>
                <a:spcPts val="360"/>
              </a:spcBef>
              <a:spcAft>
                <a:spcPts val="0"/>
              </a:spcAft>
              <a:buSzPts val="1800"/>
              <a:buFont typeface="Lato"/>
              <a:buAutoNum type="arabicPeriod"/>
            </a:pPr>
            <a:r>
              <a:rPr i="0" lang="en-US">
                <a:solidFill>
                  <a:srgbClr val="0D0D0D"/>
                </a:solidFill>
                <a:highlight>
                  <a:srgbClr val="FFFFFF"/>
                </a:highlight>
              </a:rPr>
              <a:t>Continuous learning and staying updated with the latest developments in the Spark ecosystem are crucial for maximizing the benefits of PySpark.</a:t>
            </a:r>
            <a:endParaRPr/>
          </a:p>
          <a:p>
            <a:pPr indent="0" lvl="0" marL="0" rtl="0" algn="l">
              <a:spcBef>
                <a:spcPts val="360"/>
              </a:spcBef>
              <a:spcAft>
                <a:spcPts val="0"/>
              </a:spcAft>
              <a:buSzPts val="1800"/>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6"/>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Resources and Training Opportunities for Spark and PySpark</a:t>
            </a:r>
            <a:endParaRPr/>
          </a:p>
        </p:txBody>
      </p:sp>
      <p:sp>
        <p:nvSpPr>
          <p:cNvPr id="595" name="Google Shape;595;p96"/>
          <p:cNvSpPr txBox="1"/>
          <p:nvPr>
            <p:ph idx="1" type="body"/>
          </p:nvPr>
        </p:nvSpPr>
        <p:spPr>
          <a:xfrm>
            <a:off x="334963" y="1585913"/>
            <a:ext cx="11522075" cy="4114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Official Apache Spark Documentation</a:t>
            </a:r>
            <a:r>
              <a:rPr i="0" lang="en-US">
                <a:solidFill>
                  <a:srgbClr val="0D0D0D"/>
                </a:solidFill>
                <a:highlight>
                  <a:srgbClr val="FFFFFF"/>
                </a:highlight>
              </a:rPr>
              <a:t>: The official documentation provides comprehensive guides, tutorials, and API references for Apache Spark and PySpark.</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Online Courses</a:t>
            </a:r>
            <a:r>
              <a:rPr i="0" lang="en-US">
                <a:solidFill>
                  <a:srgbClr val="0D0D0D"/>
                </a:solidFill>
                <a:highlight>
                  <a:srgbClr val="FFFFFF"/>
                </a:highlight>
              </a:rPr>
              <a:t>: Platforms like Coursera, edX, Udemy, and DataCamp offer courses on Spark and PySpark covering various topics from beginner to advanced levels.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Books</a:t>
            </a:r>
            <a:r>
              <a:rPr i="0" lang="en-US">
                <a:solidFill>
                  <a:srgbClr val="0D0D0D"/>
                </a:solidFill>
                <a:highlight>
                  <a:srgbClr val="FFFFFF"/>
                </a:highlight>
              </a:rPr>
              <a:t>: Books such as "Learning Spark" by Holden Karau, Andy Konwinski, Patrick Wendell, and Matei Zaharia provide in-depth insights into Apache Spark and PySpark concepts.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Community Forums</a:t>
            </a:r>
            <a:r>
              <a:rPr i="0" lang="en-US">
                <a:solidFill>
                  <a:srgbClr val="0D0D0D"/>
                </a:solidFill>
                <a:highlight>
                  <a:srgbClr val="FFFFFF"/>
                </a:highlight>
              </a:rPr>
              <a:t>: Participate in community forums like Stack Overflow, Apache Spark mailing lists, and Reddit communities to seek help, share knowledge, and stay updated with the latest trends.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Meetups and Conferences</a:t>
            </a:r>
            <a:r>
              <a:rPr i="0" lang="en-US">
                <a:solidFill>
                  <a:srgbClr val="0D0D0D"/>
                </a:solidFill>
                <a:highlight>
                  <a:srgbClr val="FFFFFF"/>
                </a:highlight>
              </a:rPr>
              <a:t>: Attend Spark meetups, conferences (e.g., Spark + AI Summit), and workshops to network with experts, learn best practices, and gain practical insights into Spark and PySpark.</a:t>
            </a:r>
            <a:endParaRPr/>
          </a:p>
          <a:p>
            <a:pPr indent="0" lvl="0" marL="0" rtl="0" algn="l">
              <a:spcBef>
                <a:spcPts val="360"/>
              </a:spcBef>
              <a:spcAft>
                <a:spcPts val="0"/>
              </a:spcAft>
              <a:buSzPts val="1800"/>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97"/>
          <p:cNvSpPr txBox="1"/>
          <p:nvPr>
            <p:ph type="title"/>
          </p:nvPr>
        </p:nvSpPr>
        <p:spPr>
          <a:xfrm>
            <a:off x="334963" y="234951"/>
            <a:ext cx="11522075"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0" lang="en-US">
                <a:solidFill>
                  <a:srgbClr val="0D0D0D"/>
                </a:solidFill>
                <a:highlight>
                  <a:srgbClr val="FFFFFF"/>
                </a:highlight>
                <a:latin typeface="Arial"/>
                <a:ea typeface="Arial"/>
                <a:cs typeface="Arial"/>
                <a:sym typeface="Arial"/>
              </a:rPr>
              <a:t>Future Developments and Trends in the Spark Community</a:t>
            </a:r>
            <a:endParaRPr/>
          </a:p>
        </p:txBody>
      </p:sp>
      <p:sp>
        <p:nvSpPr>
          <p:cNvPr id="601" name="Google Shape;601;p97"/>
          <p:cNvSpPr txBox="1"/>
          <p:nvPr>
            <p:ph idx="1" type="body"/>
          </p:nvPr>
        </p:nvSpPr>
        <p:spPr>
          <a:xfrm>
            <a:off x="334963" y="1585913"/>
            <a:ext cx="11522075" cy="457782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b="1" i="0" lang="en-US">
                <a:solidFill>
                  <a:srgbClr val="0D0D0D"/>
                </a:solidFill>
                <a:highlight>
                  <a:srgbClr val="FFFFFF"/>
                </a:highlight>
              </a:rPr>
              <a:t>Enhanced Streaming Capabilities</a:t>
            </a:r>
            <a:r>
              <a:rPr i="0" lang="en-US">
                <a:solidFill>
                  <a:srgbClr val="0D0D0D"/>
                </a:solidFill>
                <a:highlight>
                  <a:srgbClr val="FFFFFF"/>
                </a:highlight>
              </a:rPr>
              <a:t>: Continuous development in Spark Structured Streaming for real-time data processing, with advancements in event-time processing, state management, and integration with external systems.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Unified Analytics Platform</a:t>
            </a:r>
            <a:r>
              <a:rPr i="0" lang="en-US">
                <a:solidFill>
                  <a:srgbClr val="0D0D0D"/>
                </a:solidFill>
                <a:highlight>
                  <a:srgbClr val="FFFFFF"/>
                </a:highlight>
              </a:rPr>
              <a:t>: Continued efforts towards building a unified analytics platform with seamless integration of Spark SQL, MLlib, GraphX, and streaming capabilities for end-to-end data processing and analytics workflows.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Performance Optimization</a:t>
            </a:r>
            <a:r>
              <a:rPr i="0" lang="en-US">
                <a:solidFill>
                  <a:srgbClr val="0D0D0D"/>
                </a:solidFill>
                <a:highlight>
                  <a:srgbClr val="FFFFFF"/>
                </a:highlight>
              </a:rPr>
              <a:t>: Ongoing optimization efforts to improve Spark's performance, scalability, and resource utilization through innovations in memory management, query optimization, and distributed computing techniques.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AI and Machine Learning</a:t>
            </a:r>
            <a:r>
              <a:rPr i="0" lang="en-US">
                <a:solidFill>
                  <a:srgbClr val="0D0D0D"/>
                </a:solidFill>
                <a:highlight>
                  <a:srgbClr val="FFFFFF"/>
                </a:highlight>
              </a:rPr>
              <a:t>: Integration of advanced machine learning and deep learning frameworks with Spark for distributed training and inference, enabling scalable AI applications on large-scale datasets.</a:t>
            </a:r>
            <a:endParaRPr/>
          </a:p>
          <a:p>
            <a:pPr indent="-342900" lvl="0" marL="342900" rtl="0" algn="l">
              <a:spcBef>
                <a:spcPts val="360"/>
              </a:spcBef>
              <a:spcAft>
                <a:spcPts val="0"/>
              </a:spcAft>
              <a:buSzPts val="1800"/>
              <a:buFont typeface="Arial"/>
              <a:buAutoNum type="arabicPeriod"/>
            </a:pPr>
            <a:r>
              <a:rPr b="1" i="0" lang="en-US">
                <a:solidFill>
                  <a:srgbClr val="0D0D0D"/>
                </a:solidFill>
                <a:highlight>
                  <a:srgbClr val="FFFFFF"/>
                </a:highlight>
              </a:rPr>
              <a:t>Kubernetes Integration</a:t>
            </a:r>
            <a:r>
              <a:rPr i="0" lang="en-US">
                <a:solidFill>
                  <a:srgbClr val="0D0D0D"/>
                </a:solidFill>
                <a:highlight>
                  <a:srgbClr val="FFFFFF"/>
                </a:highlight>
              </a:rPr>
              <a:t>: Increasing adoption of Kubernetes for containerized deployment of Spark clusters, providing flexibility, resource isolation, and scalability for running Spark workloads in containerized environments.</a:t>
            </a:r>
            <a:endParaRPr/>
          </a:p>
          <a:p>
            <a:pPr indent="0" lvl="0" marL="0" rtl="0" algn="l">
              <a:spcBef>
                <a:spcPts val="360"/>
              </a:spcBef>
              <a:spcAft>
                <a:spcPts val="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Standarddesign">
  <a:themeElements>
    <a:clrScheme name="1_Standard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